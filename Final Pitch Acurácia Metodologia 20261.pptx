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Poppins Bold" charset="1" panose="00000800000000000000"/>
      <p:regular r:id="rId14"/>
    </p:embeddedFont>
    <p:embeddedFont>
      <p:font typeface="Poppins" charset="1" panose="00000500000000000000"/>
      <p:regular r:id="rId15"/>
    </p:embeddedFont>
    <p:embeddedFont>
      <p:font typeface="Poppins Italics" charset="1" panose="000005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svg" Type="http://schemas.openxmlformats.org/officeDocument/2006/relationships/image"/><Relationship Id="rId12" Target="../media/image18.jpeg" Type="http://schemas.openxmlformats.org/officeDocument/2006/relationships/image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9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22.jpeg" Type="http://schemas.openxmlformats.org/officeDocument/2006/relationships/image"/><Relationship Id="rId5" Target="../media/image23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4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png" Type="http://schemas.openxmlformats.org/officeDocument/2006/relationships/image"/><Relationship Id="rId4" Target="../media/image27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DAC9FF">
                <a:alpha val="100000"/>
              </a:srgbClr>
            </a:gs>
            <a:gs pos="100000">
              <a:srgbClr val="7045C6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695359" y="-2635099"/>
            <a:ext cx="15184674" cy="12470414"/>
          </a:xfrm>
          <a:custGeom>
            <a:avLst/>
            <a:gdLst/>
            <a:ahLst/>
            <a:cxnLst/>
            <a:rect r="r" b="b" t="t" l="l"/>
            <a:pathLst>
              <a:path h="12470414" w="15184674">
                <a:moveTo>
                  <a:pt x="0" y="0"/>
                </a:moveTo>
                <a:lnTo>
                  <a:pt x="15184675" y="0"/>
                </a:lnTo>
                <a:lnTo>
                  <a:pt x="15184675" y="12470414"/>
                </a:lnTo>
                <a:lnTo>
                  <a:pt x="0" y="124704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7153096"/>
            <a:ext cx="4943867" cy="741337"/>
            <a:chOff x="0" y="0"/>
            <a:chExt cx="1302088" cy="19524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02088" cy="195249"/>
            </a:xfrm>
            <a:custGeom>
              <a:avLst/>
              <a:gdLst/>
              <a:ahLst/>
              <a:cxnLst/>
              <a:rect r="r" b="b" t="t" l="l"/>
              <a:pathLst>
                <a:path h="195249" w="1302088">
                  <a:moveTo>
                    <a:pt x="0" y="0"/>
                  </a:moveTo>
                  <a:lnTo>
                    <a:pt x="1302088" y="0"/>
                  </a:lnTo>
                  <a:lnTo>
                    <a:pt x="1302088" y="195249"/>
                  </a:lnTo>
                  <a:lnTo>
                    <a:pt x="0" y="195249"/>
                  </a:lnTo>
                  <a:close/>
                </a:path>
              </a:pathLst>
            </a:custGeom>
            <a:solidFill>
              <a:srgbClr val="794BD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57150"/>
              <a:ext cx="1302088" cy="1380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4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8056358"/>
            <a:ext cx="4943867" cy="741337"/>
            <a:chOff x="0" y="0"/>
            <a:chExt cx="1302088" cy="19524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02088" cy="195249"/>
            </a:xfrm>
            <a:custGeom>
              <a:avLst/>
              <a:gdLst/>
              <a:ahLst/>
              <a:cxnLst/>
              <a:rect r="r" b="b" t="t" l="l"/>
              <a:pathLst>
                <a:path h="195249" w="1302088">
                  <a:moveTo>
                    <a:pt x="0" y="0"/>
                  </a:moveTo>
                  <a:lnTo>
                    <a:pt x="1302088" y="0"/>
                  </a:lnTo>
                  <a:lnTo>
                    <a:pt x="1302088" y="195249"/>
                  </a:lnTo>
                  <a:lnTo>
                    <a:pt x="0" y="195249"/>
                  </a:lnTo>
                  <a:close/>
                </a:path>
              </a:pathLst>
            </a:custGeom>
            <a:solidFill>
              <a:srgbClr val="794BD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57150"/>
              <a:ext cx="1302088" cy="1380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4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48640" y="6446520"/>
            <a:ext cx="3291840" cy="3291840"/>
            <a:chOff x="0" y="0"/>
            <a:chExt cx="6350000" cy="6350000"/>
          </a:xfrm>
        </p:grpSpPr>
        <p:sp>
          <p:nvSpPr>
            <p:cNvPr name="Freeform 10" id="10"/>
            <p:cNvSpPr/>
            <p:nvPr/>
          </p:nvSpPr>
          <p:spPr>
            <a:xfrm flipH="tru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4928504" y="0"/>
                    <a:pt x="6350000" y="1421496"/>
                    <a:pt x="6350000" y="3175000"/>
                  </a:cubicBezTo>
                  <a:cubicBezTo>
                    <a:pt x="6350000" y="4928504"/>
                    <a:pt x="4928504" y="6350000"/>
                    <a:pt x="3175000" y="6350000"/>
                  </a:cubicBezTo>
                  <a:cubicBezTo>
                    <a:pt x="1421496" y="6350000"/>
                    <a:pt x="0" y="4928504"/>
                    <a:pt x="0" y="3175000"/>
                  </a:cubicBezTo>
                  <a:cubicBezTo>
                    <a:pt x="0" y="1421496"/>
                    <a:pt x="1421496" y="0"/>
                    <a:pt x="3175000" y="0"/>
                  </a:cubicBezTo>
                  <a:close/>
                </a:path>
              </a:pathLst>
            </a:custGeom>
            <a:blipFill>
              <a:blip r:embed="rId3"/>
              <a:stretch>
                <a:fillRect l="-38888" t="0" r="-38888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28700" y="2942410"/>
            <a:ext cx="16230600" cy="2291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257"/>
              </a:lnSpc>
            </a:pPr>
            <a:r>
              <a:rPr lang="en-US" b="true" sz="9602" spc="-7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Avaliação do Uso de LLMs em Questões de Certificação PMP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51185" y="7393589"/>
            <a:ext cx="4498898" cy="303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69"/>
              </a:lnSpc>
            </a:pPr>
            <a:r>
              <a:rPr lang="en-US" sz="2406" spc="-1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Aluno: Pedro Ivo Santos Leite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2256964"/>
            <a:ext cx="12258946" cy="303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69"/>
              </a:lnSpc>
            </a:pPr>
            <a:r>
              <a:rPr lang="en-US" sz="2406" spc="-1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Qualificação de Mestrado, 2029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1185" y="8296851"/>
            <a:ext cx="4498898" cy="303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69"/>
              </a:lnSpc>
            </a:pPr>
            <a:r>
              <a:rPr lang="en-US" sz="2406" spc="-1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Metodologia da Pesquisa 2026.1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DAC9FF">
                <a:alpha val="100000"/>
              </a:srgbClr>
            </a:gs>
            <a:gs pos="100000">
              <a:srgbClr val="7045C6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8047021" cy="10287000"/>
            <a:chOff x="0" y="0"/>
            <a:chExt cx="812800" cy="10390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1039052"/>
            </a:xfrm>
            <a:custGeom>
              <a:avLst/>
              <a:gdLst/>
              <a:ahLst/>
              <a:cxnLst/>
              <a:rect r="r" b="b" t="t" l="l"/>
              <a:pathLst>
                <a:path h="103905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039052"/>
                  </a:lnTo>
                  <a:lnTo>
                    <a:pt x="0" y="1039052"/>
                  </a:lnTo>
                  <a:close/>
                </a:path>
              </a:pathLst>
            </a:custGeom>
            <a:blipFill>
              <a:blip r:embed="rId2"/>
              <a:stretch>
                <a:fillRect l="0" t="-64" r="0" b="-64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1087100" y="3086100"/>
            <a:ext cx="7200900" cy="7200900"/>
          </a:xfrm>
          <a:custGeom>
            <a:avLst/>
            <a:gdLst/>
            <a:ahLst/>
            <a:cxnLst/>
            <a:rect r="r" b="b" t="t" l="l"/>
            <a:pathLst>
              <a:path h="7200900" w="7200900">
                <a:moveTo>
                  <a:pt x="0" y="0"/>
                </a:moveTo>
                <a:lnTo>
                  <a:pt x="7200900" y="0"/>
                </a:lnTo>
                <a:lnTo>
                  <a:pt x="7200900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8718938" y="7156449"/>
            <a:ext cx="8540362" cy="2249806"/>
            <a:chOff x="0" y="0"/>
            <a:chExt cx="2249314" cy="59254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9313" cy="592541"/>
            </a:xfrm>
            <a:custGeom>
              <a:avLst/>
              <a:gdLst/>
              <a:ahLst/>
              <a:cxnLst/>
              <a:rect r="r" b="b" t="t" l="l"/>
              <a:pathLst>
                <a:path h="592541" w="2249313">
                  <a:moveTo>
                    <a:pt x="46232" y="0"/>
                  </a:moveTo>
                  <a:lnTo>
                    <a:pt x="2203081" y="0"/>
                  </a:lnTo>
                  <a:cubicBezTo>
                    <a:pt x="2215343" y="0"/>
                    <a:pt x="2227102" y="4871"/>
                    <a:pt x="2235772" y="13541"/>
                  </a:cubicBezTo>
                  <a:cubicBezTo>
                    <a:pt x="2244443" y="22211"/>
                    <a:pt x="2249313" y="33971"/>
                    <a:pt x="2249313" y="46232"/>
                  </a:cubicBezTo>
                  <a:lnTo>
                    <a:pt x="2249313" y="546309"/>
                  </a:lnTo>
                  <a:cubicBezTo>
                    <a:pt x="2249313" y="558571"/>
                    <a:pt x="2244443" y="570330"/>
                    <a:pt x="2235772" y="579000"/>
                  </a:cubicBezTo>
                  <a:cubicBezTo>
                    <a:pt x="2227102" y="587671"/>
                    <a:pt x="2215343" y="592541"/>
                    <a:pt x="2203081" y="592541"/>
                  </a:cubicBezTo>
                  <a:lnTo>
                    <a:pt x="46232" y="592541"/>
                  </a:lnTo>
                  <a:cubicBezTo>
                    <a:pt x="33971" y="592541"/>
                    <a:pt x="22211" y="587671"/>
                    <a:pt x="13541" y="579000"/>
                  </a:cubicBezTo>
                  <a:cubicBezTo>
                    <a:pt x="4871" y="570330"/>
                    <a:pt x="0" y="558571"/>
                    <a:pt x="0" y="546309"/>
                  </a:cubicBezTo>
                  <a:lnTo>
                    <a:pt x="0" y="46232"/>
                  </a:lnTo>
                  <a:cubicBezTo>
                    <a:pt x="0" y="33971"/>
                    <a:pt x="4871" y="22211"/>
                    <a:pt x="13541" y="13541"/>
                  </a:cubicBezTo>
                  <a:cubicBezTo>
                    <a:pt x="22211" y="4871"/>
                    <a:pt x="33971" y="0"/>
                    <a:pt x="46232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57150"/>
              <a:ext cx="2249314" cy="5353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4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48640" y="6446520"/>
            <a:ext cx="3291840" cy="3291840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tru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4928504" y="0"/>
                    <a:pt x="6350000" y="1421496"/>
                    <a:pt x="6350000" y="3175000"/>
                  </a:cubicBezTo>
                  <a:cubicBezTo>
                    <a:pt x="6350000" y="4928504"/>
                    <a:pt x="4928504" y="6350000"/>
                    <a:pt x="3175000" y="6350000"/>
                  </a:cubicBezTo>
                  <a:cubicBezTo>
                    <a:pt x="1421496" y="6350000"/>
                    <a:pt x="0" y="4928504"/>
                    <a:pt x="0" y="3175000"/>
                  </a:cubicBezTo>
                  <a:cubicBezTo>
                    <a:pt x="0" y="1421496"/>
                    <a:pt x="1421496" y="0"/>
                    <a:pt x="3175000" y="0"/>
                  </a:cubicBezTo>
                  <a:close/>
                </a:path>
              </a:pathLst>
            </a:custGeom>
            <a:blipFill>
              <a:blip r:embed="rId5"/>
              <a:stretch>
                <a:fillRect l="-38888" t="0" r="-38888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718938" y="995381"/>
            <a:ext cx="8540362" cy="926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118"/>
              </a:lnSpc>
            </a:pPr>
            <a:r>
              <a:rPr lang="en-US" b="true" sz="7114" spc="-51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Contexto e Problema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718938" y="4505324"/>
            <a:ext cx="8540362" cy="2025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267"/>
              </a:lnSpc>
            </a:pPr>
            <a:r>
              <a:rPr lang="en-US" sz="2118" spc="-15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Os principais desafios identificados incluem: incerteza sobre a confiabilidade e acurácia dos LLMs (ChatGPT, Gemini) no contexto atual do exame; exigência de julgamento situacional que vai além da memorização; feedbacks tradicionais limitados, levando candidatos a buscar explicações detalhadas em LLMs; e ausência de estudos sistemáticos sobre desempenho e impacto de estratégias de prompting nesses modelos.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718938" y="2844799"/>
            <a:ext cx="8540362" cy="1168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267"/>
              </a:lnSpc>
            </a:pPr>
            <a:r>
              <a:rPr lang="en-US" b="true" sz="2118" spc="-15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 exame PMP atual exige 180 questões em 4 horas, com evolução significativa de perguntas factuais para questões situacionais com múltiplas respostas corretas, demandando julgamento prático e aplicação contextual do conhecimento em gerenciamento de projetos.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329587" y="7652515"/>
            <a:ext cx="7319064" cy="1168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267"/>
              </a:lnSpc>
            </a:pPr>
            <a:r>
              <a:rPr lang="en-US" sz="2118" spc="-15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Problema Central: Não há estudos sistemáticos que avaliem a acurácia, estabilidade e padrões de erro dos LLMs em questões de certificação PMP, especialmente considerando a complexidade das questões situacionais do exame atual.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575180" y="-1460380"/>
            <a:ext cx="13207760" cy="1320776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AC9FF">
                    <a:alpha val="100000"/>
                  </a:srgbClr>
                </a:gs>
                <a:gs pos="100000">
                  <a:srgbClr val="7045C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133350"/>
              <a:ext cx="660400" cy="603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4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00168" y="2320740"/>
            <a:ext cx="975871" cy="97587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463617" y="45143"/>
                  </a:lnTo>
                  <a:lnTo>
                    <a:pt x="531984" y="19891"/>
                  </a:lnTo>
                  <a:lnTo>
                    <a:pt x="572451" y="80505"/>
                  </a:lnTo>
                  <a:lnTo>
                    <a:pt x="645276" y="77616"/>
                  </a:lnTo>
                  <a:lnTo>
                    <a:pt x="665032" y="147768"/>
                  </a:lnTo>
                  <a:lnTo>
                    <a:pt x="735184" y="167524"/>
                  </a:lnTo>
                  <a:lnTo>
                    <a:pt x="732295" y="240349"/>
                  </a:lnTo>
                  <a:lnTo>
                    <a:pt x="792909" y="280816"/>
                  </a:lnTo>
                  <a:lnTo>
                    <a:pt x="767657" y="349183"/>
                  </a:lnTo>
                  <a:lnTo>
                    <a:pt x="812800" y="406400"/>
                  </a:lnTo>
                  <a:lnTo>
                    <a:pt x="767657" y="463617"/>
                  </a:lnTo>
                  <a:lnTo>
                    <a:pt x="792909" y="531984"/>
                  </a:lnTo>
                  <a:lnTo>
                    <a:pt x="732295" y="572451"/>
                  </a:lnTo>
                  <a:lnTo>
                    <a:pt x="735184" y="645276"/>
                  </a:lnTo>
                  <a:lnTo>
                    <a:pt x="665032" y="665032"/>
                  </a:lnTo>
                  <a:lnTo>
                    <a:pt x="645276" y="735184"/>
                  </a:lnTo>
                  <a:lnTo>
                    <a:pt x="572451" y="732295"/>
                  </a:lnTo>
                  <a:lnTo>
                    <a:pt x="531984" y="792909"/>
                  </a:lnTo>
                  <a:lnTo>
                    <a:pt x="463617" y="767657"/>
                  </a:lnTo>
                  <a:lnTo>
                    <a:pt x="406400" y="812800"/>
                  </a:lnTo>
                  <a:lnTo>
                    <a:pt x="349183" y="767657"/>
                  </a:lnTo>
                  <a:lnTo>
                    <a:pt x="280816" y="792909"/>
                  </a:lnTo>
                  <a:lnTo>
                    <a:pt x="240349" y="732295"/>
                  </a:lnTo>
                  <a:lnTo>
                    <a:pt x="167524" y="735184"/>
                  </a:lnTo>
                  <a:lnTo>
                    <a:pt x="147768" y="665032"/>
                  </a:lnTo>
                  <a:lnTo>
                    <a:pt x="77616" y="645276"/>
                  </a:lnTo>
                  <a:lnTo>
                    <a:pt x="80505" y="572451"/>
                  </a:lnTo>
                  <a:lnTo>
                    <a:pt x="19891" y="531984"/>
                  </a:lnTo>
                  <a:lnTo>
                    <a:pt x="45143" y="463617"/>
                  </a:lnTo>
                  <a:lnTo>
                    <a:pt x="0" y="406400"/>
                  </a:lnTo>
                  <a:lnTo>
                    <a:pt x="45143" y="349183"/>
                  </a:lnTo>
                  <a:lnTo>
                    <a:pt x="19891" y="280816"/>
                  </a:lnTo>
                  <a:lnTo>
                    <a:pt x="80505" y="240349"/>
                  </a:lnTo>
                  <a:lnTo>
                    <a:pt x="77616" y="167524"/>
                  </a:lnTo>
                  <a:lnTo>
                    <a:pt x="147768" y="147768"/>
                  </a:lnTo>
                  <a:lnTo>
                    <a:pt x="167524" y="77616"/>
                  </a:lnTo>
                  <a:lnTo>
                    <a:pt x="240349" y="80505"/>
                  </a:lnTo>
                  <a:lnTo>
                    <a:pt x="280816" y="19891"/>
                  </a:lnTo>
                  <a:lnTo>
                    <a:pt x="349183" y="45143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94BD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88900" y="146050"/>
              <a:ext cx="635000" cy="577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4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144645" y="4588317"/>
            <a:ext cx="975871" cy="97587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463617" y="45143"/>
                  </a:lnTo>
                  <a:lnTo>
                    <a:pt x="531984" y="19891"/>
                  </a:lnTo>
                  <a:lnTo>
                    <a:pt x="572451" y="80505"/>
                  </a:lnTo>
                  <a:lnTo>
                    <a:pt x="645276" y="77616"/>
                  </a:lnTo>
                  <a:lnTo>
                    <a:pt x="665032" y="147768"/>
                  </a:lnTo>
                  <a:lnTo>
                    <a:pt x="735184" y="167524"/>
                  </a:lnTo>
                  <a:lnTo>
                    <a:pt x="732295" y="240349"/>
                  </a:lnTo>
                  <a:lnTo>
                    <a:pt x="792909" y="280816"/>
                  </a:lnTo>
                  <a:lnTo>
                    <a:pt x="767657" y="349183"/>
                  </a:lnTo>
                  <a:lnTo>
                    <a:pt x="812800" y="406400"/>
                  </a:lnTo>
                  <a:lnTo>
                    <a:pt x="767657" y="463617"/>
                  </a:lnTo>
                  <a:lnTo>
                    <a:pt x="792909" y="531984"/>
                  </a:lnTo>
                  <a:lnTo>
                    <a:pt x="732295" y="572451"/>
                  </a:lnTo>
                  <a:lnTo>
                    <a:pt x="735184" y="645276"/>
                  </a:lnTo>
                  <a:lnTo>
                    <a:pt x="665032" y="665032"/>
                  </a:lnTo>
                  <a:lnTo>
                    <a:pt x="645276" y="735184"/>
                  </a:lnTo>
                  <a:lnTo>
                    <a:pt x="572451" y="732295"/>
                  </a:lnTo>
                  <a:lnTo>
                    <a:pt x="531984" y="792909"/>
                  </a:lnTo>
                  <a:lnTo>
                    <a:pt x="463617" y="767657"/>
                  </a:lnTo>
                  <a:lnTo>
                    <a:pt x="406400" y="812800"/>
                  </a:lnTo>
                  <a:lnTo>
                    <a:pt x="349183" y="767657"/>
                  </a:lnTo>
                  <a:lnTo>
                    <a:pt x="280816" y="792909"/>
                  </a:lnTo>
                  <a:lnTo>
                    <a:pt x="240349" y="732295"/>
                  </a:lnTo>
                  <a:lnTo>
                    <a:pt x="167524" y="735184"/>
                  </a:lnTo>
                  <a:lnTo>
                    <a:pt x="147768" y="665032"/>
                  </a:lnTo>
                  <a:lnTo>
                    <a:pt x="77616" y="645276"/>
                  </a:lnTo>
                  <a:lnTo>
                    <a:pt x="80505" y="572451"/>
                  </a:lnTo>
                  <a:lnTo>
                    <a:pt x="19891" y="531984"/>
                  </a:lnTo>
                  <a:lnTo>
                    <a:pt x="45143" y="463617"/>
                  </a:lnTo>
                  <a:lnTo>
                    <a:pt x="0" y="406400"/>
                  </a:lnTo>
                  <a:lnTo>
                    <a:pt x="45143" y="349183"/>
                  </a:lnTo>
                  <a:lnTo>
                    <a:pt x="19891" y="280816"/>
                  </a:lnTo>
                  <a:lnTo>
                    <a:pt x="80505" y="240349"/>
                  </a:lnTo>
                  <a:lnTo>
                    <a:pt x="77616" y="167524"/>
                  </a:lnTo>
                  <a:lnTo>
                    <a:pt x="147768" y="147768"/>
                  </a:lnTo>
                  <a:lnTo>
                    <a:pt x="167524" y="77616"/>
                  </a:lnTo>
                  <a:lnTo>
                    <a:pt x="240349" y="80505"/>
                  </a:lnTo>
                  <a:lnTo>
                    <a:pt x="280816" y="19891"/>
                  </a:lnTo>
                  <a:lnTo>
                    <a:pt x="349183" y="45143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94BD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88900" y="146050"/>
              <a:ext cx="635000" cy="577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4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800168" y="6855893"/>
            <a:ext cx="975871" cy="97587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463617" y="45143"/>
                  </a:lnTo>
                  <a:lnTo>
                    <a:pt x="531984" y="19891"/>
                  </a:lnTo>
                  <a:lnTo>
                    <a:pt x="572451" y="80505"/>
                  </a:lnTo>
                  <a:lnTo>
                    <a:pt x="645276" y="77616"/>
                  </a:lnTo>
                  <a:lnTo>
                    <a:pt x="665032" y="147768"/>
                  </a:lnTo>
                  <a:lnTo>
                    <a:pt x="735184" y="167524"/>
                  </a:lnTo>
                  <a:lnTo>
                    <a:pt x="732295" y="240349"/>
                  </a:lnTo>
                  <a:lnTo>
                    <a:pt x="792909" y="280816"/>
                  </a:lnTo>
                  <a:lnTo>
                    <a:pt x="767657" y="349183"/>
                  </a:lnTo>
                  <a:lnTo>
                    <a:pt x="812800" y="406400"/>
                  </a:lnTo>
                  <a:lnTo>
                    <a:pt x="767657" y="463617"/>
                  </a:lnTo>
                  <a:lnTo>
                    <a:pt x="792909" y="531984"/>
                  </a:lnTo>
                  <a:lnTo>
                    <a:pt x="732295" y="572451"/>
                  </a:lnTo>
                  <a:lnTo>
                    <a:pt x="735184" y="645276"/>
                  </a:lnTo>
                  <a:lnTo>
                    <a:pt x="665032" y="665032"/>
                  </a:lnTo>
                  <a:lnTo>
                    <a:pt x="645276" y="735184"/>
                  </a:lnTo>
                  <a:lnTo>
                    <a:pt x="572451" y="732295"/>
                  </a:lnTo>
                  <a:lnTo>
                    <a:pt x="531984" y="792909"/>
                  </a:lnTo>
                  <a:lnTo>
                    <a:pt x="463617" y="767657"/>
                  </a:lnTo>
                  <a:lnTo>
                    <a:pt x="406400" y="812800"/>
                  </a:lnTo>
                  <a:lnTo>
                    <a:pt x="349183" y="767657"/>
                  </a:lnTo>
                  <a:lnTo>
                    <a:pt x="280816" y="792909"/>
                  </a:lnTo>
                  <a:lnTo>
                    <a:pt x="240349" y="732295"/>
                  </a:lnTo>
                  <a:lnTo>
                    <a:pt x="167524" y="735184"/>
                  </a:lnTo>
                  <a:lnTo>
                    <a:pt x="147768" y="665032"/>
                  </a:lnTo>
                  <a:lnTo>
                    <a:pt x="77616" y="645276"/>
                  </a:lnTo>
                  <a:lnTo>
                    <a:pt x="80505" y="572451"/>
                  </a:lnTo>
                  <a:lnTo>
                    <a:pt x="19891" y="531984"/>
                  </a:lnTo>
                  <a:lnTo>
                    <a:pt x="45143" y="463617"/>
                  </a:lnTo>
                  <a:lnTo>
                    <a:pt x="0" y="406400"/>
                  </a:lnTo>
                  <a:lnTo>
                    <a:pt x="45143" y="349183"/>
                  </a:lnTo>
                  <a:lnTo>
                    <a:pt x="19891" y="280816"/>
                  </a:lnTo>
                  <a:lnTo>
                    <a:pt x="80505" y="240349"/>
                  </a:lnTo>
                  <a:lnTo>
                    <a:pt x="77616" y="167524"/>
                  </a:lnTo>
                  <a:lnTo>
                    <a:pt x="147768" y="147768"/>
                  </a:lnTo>
                  <a:lnTo>
                    <a:pt x="167524" y="77616"/>
                  </a:lnTo>
                  <a:lnTo>
                    <a:pt x="240349" y="80505"/>
                  </a:lnTo>
                  <a:lnTo>
                    <a:pt x="280816" y="19891"/>
                  </a:lnTo>
                  <a:lnTo>
                    <a:pt x="349183" y="45143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94BD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88900" y="146050"/>
              <a:ext cx="635000" cy="577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4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48640" y="6446520"/>
            <a:ext cx="3291840" cy="3291840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tru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4928504" y="0"/>
                    <a:pt x="6350000" y="1421496"/>
                    <a:pt x="6350000" y="3175000"/>
                  </a:cubicBezTo>
                  <a:cubicBezTo>
                    <a:pt x="6350000" y="4928504"/>
                    <a:pt x="4928504" y="6350000"/>
                    <a:pt x="3175000" y="6350000"/>
                  </a:cubicBezTo>
                  <a:cubicBezTo>
                    <a:pt x="1421496" y="6350000"/>
                    <a:pt x="0" y="4928504"/>
                    <a:pt x="0" y="3175000"/>
                  </a:cubicBezTo>
                  <a:cubicBezTo>
                    <a:pt x="0" y="1421496"/>
                    <a:pt x="1421496" y="0"/>
                    <a:pt x="3175000" y="0"/>
                  </a:cubicBezTo>
                  <a:close/>
                </a:path>
              </a:pathLst>
            </a:custGeom>
            <a:blipFill>
              <a:blip r:embed="rId2"/>
              <a:stretch>
                <a:fillRect l="-38888" t="0" r="-38888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623496" y="3791911"/>
            <a:ext cx="6603880" cy="1288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93"/>
              </a:lnSpc>
            </a:pPr>
            <a:r>
              <a:rPr lang="en-US" b="true" sz="9992" spc="-72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Objetivos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932334" y="2658180"/>
            <a:ext cx="711537" cy="377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78"/>
              </a:lnSpc>
            </a:pPr>
            <a:r>
              <a:rPr lang="en-US" b="true" sz="2997" spc="-21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276811" y="4925757"/>
            <a:ext cx="711537" cy="377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78"/>
              </a:lnSpc>
            </a:pPr>
            <a:r>
              <a:rPr lang="en-US" b="true" sz="2997" spc="-21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23496" y="5358439"/>
            <a:ext cx="6176672" cy="1031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73"/>
              </a:lnSpc>
            </a:pPr>
            <a:r>
              <a:rPr lang="en-US" sz="2498" i="true" spc="-182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Objetivo Geral e Objetivos Específicos da pesquisa sobre avaliação de LLMs em questões de certificação PMP.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718938" y="2198061"/>
            <a:ext cx="8540362" cy="1365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73"/>
              </a:lnSpc>
            </a:pPr>
            <a:r>
              <a:rPr lang="en-US" sz="2498" spc="-182">
                <a:solidFill>
                  <a:srgbClr val="794BD4"/>
                </a:solidFill>
                <a:latin typeface="Poppins"/>
                <a:ea typeface="Poppins"/>
                <a:cs typeface="Poppins"/>
                <a:sym typeface="Poppins"/>
              </a:rPr>
              <a:t>Objetivo Geral: Desenvolver e avaliar um sistema inteligente baseado em ML, PLN e LLMs para gerar, aplicar e analisar simulados PMP, maximizando a acurácia e fornecendo suporte adaptativo com feedback explicativo.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718938" y="4465638"/>
            <a:ext cx="8540362" cy="1365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73"/>
              </a:lnSpc>
            </a:pPr>
            <a:r>
              <a:rPr lang="en-US" sz="2498" spc="-182">
                <a:solidFill>
                  <a:srgbClr val="794BD4"/>
                </a:solidFill>
                <a:latin typeface="Poppins"/>
                <a:ea typeface="Poppins"/>
                <a:cs typeface="Poppins"/>
                <a:sym typeface="Poppins"/>
              </a:rPr>
              <a:t>Objetivos Específicos I: Construir dataset alinhado ao exame PMP 2026. Avaliar desempenho dos LLMs sob diferentes estratégias de prompting. Analisar resultados por domínio (Pessoas, Processos, Ambiente de Negócios).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932334" y="7193334"/>
            <a:ext cx="711537" cy="377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78"/>
              </a:lnSpc>
            </a:pPr>
            <a:r>
              <a:rPr lang="en-US" b="true" sz="2997" spc="-21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718938" y="6733214"/>
            <a:ext cx="8540362" cy="1365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73"/>
              </a:lnSpc>
            </a:pPr>
            <a:r>
              <a:rPr lang="en-US" sz="2498" spc="-182">
                <a:solidFill>
                  <a:srgbClr val="794BD4"/>
                </a:solidFill>
                <a:latin typeface="Poppins"/>
                <a:ea typeface="Poppins"/>
                <a:cs typeface="Poppins"/>
                <a:sym typeface="Poppins"/>
              </a:rPr>
              <a:t>Objetivos Específicos II: Diferenciar questões factuais e situacionais. Identificar padrões de erro e limitações dos modelos. Derivar diretrizes práticas para uso de LLMs na preparação para a certificação PMP.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7033669" y="-1126764"/>
            <a:ext cx="9736010" cy="12540528"/>
          </a:xfrm>
          <a:custGeom>
            <a:avLst/>
            <a:gdLst/>
            <a:ahLst/>
            <a:cxnLst/>
            <a:rect r="r" b="b" t="t" l="l"/>
            <a:pathLst>
              <a:path h="12540528" w="9736010">
                <a:moveTo>
                  <a:pt x="9736009" y="0"/>
                </a:moveTo>
                <a:lnTo>
                  <a:pt x="0" y="0"/>
                </a:lnTo>
                <a:lnTo>
                  <a:pt x="0" y="12540528"/>
                </a:lnTo>
                <a:lnTo>
                  <a:pt x="9736009" y="12540528"/>
                </a:lnTo>
                <a:lnTo>
                  <a:pt x="9736009" y="0"/>
                </a:lnTo>
                <a:close/>
              </a:path>
            </a:pathLst>
          </a:custGeom>
          <a:blipFill>
            <a:blip r:embed="rId2">
              <a:alphaModFix amt="5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3696685"/>
            <a:ext cx="7648988" cy="2178724"/>
            <a:chOff x="0" y="0"/>
            <a:chExt cx="2014548" cy="5738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14548" cy="573820"/>
            </a:xfrm>
            <a:custGeom>
              <a:avLst/>
              <a:gdLst/>
              <a:ahLst/>
              <a:cxnLst/>
              <a:rect r="r" b="b" t="t" l="l"/>
              <a:pathLst>
                <a:path h="573820" w="2014548">
                  <a:moveTo>
                    <a:pt x="51620" y="0"/>
                  </a:moveTo>
                  <a:lnTo>
                    <a:pt x="1962929" y="0"/>
                  </a:lnTo>
                  <a:cubicBezTo>
                    <a:pt x="1991438" y="0"/>
                    <a:pt x="2014548" y="23111"/>
                    <a:pt x="2014548" y="51620"/>
                  </a:cubicBezTo>
                  <a:lnTo>
                    <a:pt x="2014548" y="522201"/>
                  </a:lnTo>
                  <a:cubicBezTo>
                    <a:pt x="2014548" y="550709"/>
                    <a:pt x="1991438" y="573820"/>
                    <a:pt x="1962929" y="573820"/>
                  </a:cubicBezTo>
                  <a:lnTo>
                    <a:pt x="51620" y="573820"/>
                  </a:lnTo>
                  <a:cubicBezTo>
                    <a:pt x="37929" y="573820"/>
                    <a:pt x="24800" y="568382"/>
                    <a:pt x="15119" y="558701"/>
                  </a:cubicBezTo>
                  <a:cubicBezTo>
                    <a:pt x="5438" y="549021"/>
                    <a:pt x="0" y="535891"/>
                    <a:pt x="0" y="522201"/>
                  </a:cubicBezTo>
                  <a:lnTo>
                    <a:pt x="0" y="51620"/>
                  </a:lnTo>
                  <a:cubicBezTo>
                    <a:pt x="0" y="23111"/>
                    <a:pt x="23111" y="0"/>
                    <a:pt x="51620" y="0"/>
                  </a:cubicBezTo>
                  <a:close/>
                </a:path>
              </a:pathLst>
            </a:custGeom>
            <a:ln w="19050" cap="rnd">
              <a:solidFill>
                <a:srgbClr val="794BD4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57150"/>
              <a:ext cx="2014548" cy="5166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4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610312" y="3696685"/>
            <a:ext cx="7648988" cy="2178724"/>
            <a:chOff x="0" y="0"/>
            <a:chExt cx="2014548" cy="5738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14548" cy="573820"/>
            </a:xfrm>
            <a:custGeom>
              <a:avLst/>
              <a:gdLst/>
              <a:ahLst/>
              <a:cxnLst/>
              <a:rect r="r" b="b" t="t" l="l"/>
              <a:pathLst>
                <a:path h="573820" w="2014548">
                  <a:moveTo>
                    <a:pt x="51620" y="0"/>
                  </a:moveTo>
                  <a:lnTo>
                    <a:pt x="1962929" y="0"/>
                  </a:lnTo>
                  <a:cubicBezTo>
                    <a:pt x="1991438" y="0"/>
                    <a:pt x="2014548" y="23111"/>
                    <a:pt x="2014548" y="51620"/>
                  </a:cubicBezTo>
                  <a:lnTo>
                    <a:pt x="2014548" y="522201"/>
                  </a:lnTo>
                  <a:cubicBezTo>
                    <a:pt x="2014548" y="550709"/>
                    <a:pt x="1991438" y="573820"/>
                    <a:pt x="1962929" y="573820"/>
                  </a:cubicBezTo>
                  <a:lnTo>
                    <a:pt x="51620" y="573820"/>
                  </a:lnTo>
                  <a:cubicBezTo>
                    <a:pt x="37929" y="573820"/>
                    <a:pt x="24800" y="568382"/>
                    <a:pt x="15119" y="558701"/>
                  </a:cubicBezTo>
                  <a:cubicBezTo>
                    <a:pt x="5438" y="549021"/>
                    <a:pt x="0" y="535891"/>
                    <a:pt x="0" y="522201"/>
                  </a:cubicBezTo>
                  <a:lnTo>
                    <a:pt x="0" y="51620"/>
                  </a:lnTo>
                  <a:cubicBezTo>
                    <a:pt x="0" y="23111"/>
                    <a:pt x="23111" y="0"/>
                    <a:pt x="51620" y="0"/>
                  </a:cubicBezTo>
                  <a:close/>
                </a:path>
              </a:pathLst>
            </a:custGeom>
            <a:ln w="19050" cap="rnd">
              <a:solidFill>
                <a:srgbClr val="794BD4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57150"/>
              <a:ext cx="2014548" cy="5166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4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8700" y="6208783"/>
            <a:ext cx="7648988" cy="2178724"/>
            <a:chOff x="0" y="0"/>
            <a:chExt cx="2014548" cy="5738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14548" cy="573820"/>
            </a:xfrm>
            <a:custGeom>
              <a:avLst/>
              <a:gdLst/>
              <a:ahLst/>
              <a:cxnLst/>
              <a:rect r="r" b="b" t="t" l="l"/>
              <a:pathLst>
                <a:path h="573820" w="2014548">
                  <a:moveTo>
                    <a:pt x="51620" y="0"/>
                  </a:moveTo>
                  <a:lnTo>
                    <a:pt x="1962929" y="0"/>
                  </a:lnTo>
                  <a:cubicBezTo>
                    <a:pt x="1991438" y="0"/>
                    <a:pt x="2014548" y="23111"/>
                    <a:pt x="2014548" y="51620"/>
                  </a:cubicBezTo>
                  <a:lnTo>
                    <a:pt x="2014548" y="522201"/>
                  </a:lnTo>
                  <a:cubicBezTo>
                    <a:pt x="2014548" y="550709"/>
                    <a:pt x="1991438" y="573820"/>
                    <a:pt x="1962929" y="573820"/>
                  </a:cubicBezTo>
                  <a:lnTo>
                    <a:pt x="51620" y="573820"/>
                  </a:lnTo>
                  <a:cubicBezTo>
                    <a:pt x="37929" y="573820"/>
                    <a:pt x="24800" y="568382"/>
                    <a:pt x="15119" y="558701"/>
                  </a:cubicBezTo>
                  <a:cubicBezTo>
                    <a:pt x="5438" y="549021"/>
                    <a:pt x="0" y="535891"/>
                    <a:pt x="0" y="522201"/>
                  </a:cubicBezTo>
                  <a:lnTo>
                    <a:pt x="0" y="51620"/>
                  </a:lnTo>
                  <a:cubicBezTo>
                    <a:pt x="0" y="23111"/>
                    <a:pt x="23111" y="0"/>
                    <a:pt x="51620" y="0"/>
                  </a:cubicBezTo>
                  <a:close/>
                </a:path>
              </a:pathLst>
            </a:custGeom>
            <a:ln w="19050" cap="rnd">
              <a:solidFill>
                <a:srgbClr val="794BD4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57150"/>
              <a:ext cx="2014548" cy="5166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4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610312" y="6208783"/>
            <a:ext cx="7648988" cy="2178724"/>
            <a:chOff x="0" y="0"/>
            <a:chExt cx="2014548" cy="5738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14548" cy="573820"/>
            </a:xfrm>
            <a:custGeom>
              <a:avLst/>
              <a:gdLst/>
              <a:ahLst/>
              <a:cxnLst/>
              <a:rect r="r" b="b" t="t" l="l"/>
              <a:pathLst>
                <a:path h="573820" w="2014548">
                  <a:moveTo>
                    <a:pt x="51620" y="0"/>
                  </a:moveTo>
                  <a:lnTo>
                    <a:pt x="1962929" y="0"/>
                  </a:lnTo>
                  <a:cubicBezTo>
                    <a:pt x="1991438" y="0"/>
                    <a:pt x="2014548" y="23111"/>
                    <a:pt x="2014548" y="51620"/>
                  </a:cubicBezTo>
                  <a:lnTo>
                    <a:pt x="2014548" y="522201"/>
                  </a:lnTo>
                  <a:cubicBezTo>
                    <a:pt x="2014548" y="550709"/>
                    <a:pt x="1991438" y="573820"/>
                    <a:pt x="1962929" y="573820"/>
                  </a:cubicBezTo>
                  <a:lnTo>
                    <a:pt x="51620" y="573820"/>
                  </a:lnTo>
                  <a:cubicBezTo>
                    <a:pt x="37929" y="573820"/>
                    <a:pt x="24800" y="568382"/>
                    <a:pt x="15119" y="558701"/>
                  </a:cubicBezTo>
                  <a:cubicBezTo>
                    <a:pt x="5438" y="549021"/>
                    <a:pt x="0" y="535891"/>
                    <a:pt x="0" y="522201"/>
                  </a:cubicBezTo>
                  <a:lnTo>
                    <a:pt x="0" y="51620"/>
                  </a:lnTo>
                  <a:cubicBezTo>
                    <a:pt x="0" y="23111"/>
                    <a:pt x="23111" y="0"/>
                    <a:pt x="51620" y="0"/>
                  </a:cubicBezTo>
                  <a:close/>
                </a:path>
              </a:pathLst>
            </a:custGeom>
            <a:ln w="19050" cap="rnd">
              <a:solidFill>
                <a:srgbClr val="794BD4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57150"/>
              <a:ext cx="2014548" cy="5166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4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401566" y="4162588"/>
            <a:ext cx="985222" cy="1159084"/>
          </a:xfrm>
          <a:custGeom>
            <a:avLst/>
            <a:gdLst/>
            <a:ahLst/>
            <a:cxnLst/>
            <a:rect r="r" b="b" t="t" l="l"/>
            <a:pathLst>
              <a:path h="1159084" w="985222">
                <a:moveTo>
                  <a:pt x="0" y="0"/>
                </a:moveTo>
                <a:lnTo>
                  <a:pt x="985222" y="0"/>
                </a:lnTo>
                <a:lnTo>
                  <a:pt x="985222" y="1159084"/>
                </a:lnTo>
                <a:lnTo>
                  <a:pt x="0" y="11590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401566" y="6805181"/>
            <a:ext cx="985929" cy="985929"/>
          </a:xfrm>
          <a:custGeom>
            <a:avLst/>
            <a:gdLst/>
            <a:ahLst/>
            <a:cxnLst/>
            <a:rect r="r" b="b" t="t" l="l"/>
            <a:pathLst>
              <a:path h="985929" w="985929">
                <a:moveTo>
                  <a:pt x="0" y="0"/>
                </a:moveTo>
                <a:lnTo>
                  <a:pt x="985929" y="0"/>
                </a:lnTo>
                <a:lnTo>
                  <a:pt x="985929" y="985929"/>
                </a:lnTo>
                <a:lnTo>
                  <a:pt x="0" y="9859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9983178" y="4394161"/>
            <a:ext cx="1170360" cy="927510"/>
          </a:xfrm>
          <a:custGeom>
            <a:avLst/>
            <a:gdLst/>
            <a:ahLst/>
            <a:cxnLst/>
            <a:rect r="r" b="b" t="t" l="l"/>
            <a:pathLst>
              <a:path h="927510" w="1170360">
                <a:moveTo>
                  <a:pt x="0" y="0"/>
                </a:moveTo>
                <a:lnTo>
                  <a:pt x="1170360" y="0"/>
                </a:lnTo>
                <a:lnTo>
                  <a:pt x="1170360" y="927511"/>
                </a:lnTo>
                <a:lnTo>
                  <a:pt x="0" y="92751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9983178" y="6752667"/>
            <a:ext cx="947296" cy="1090957"/>
          </a:xfrm>
          <a:custGeom>
            <a:avLst/>
            <a:gdLst/>
            <a:ahLst/>
            <a:cxnLst/>
            <a:rect r="r" b="b" t="t" l="l"/>
            <a:pathLst>
              <a:path h="1090957" w="947296">
                <a:moveTo>
                  <a:pt x="0" y="0"/>
                </a:moveTo>
                <a:lnTo>
                  <a:pt x="947296" y="0"/>
                </a:lnTo>
                <a:lnTo>
                  <a:pt x="947296" y="1090957"/>
                </a:lnTo>
                <a:lnTo>
                  <a:pt x="0" y="109095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548640" y="6446520"/>
            <a:ext cx="3291840" cy="3291840"/>
            <a:chOff x="0" y="0"/>
            <a:chExt cx="6350000" cy="6350000"/>
          </a:xfrm>
        </p:grpSpPr>
        <p:sp>
          <p:nvSpPr>
            <p:cNvPr name="Freeform 20" id="20"/>
            <p:cNvSpPr/>
            <p:nvPr/>
          </p:nvSpPr>
          <p:spPr>
            <a:xfrm flipH="tru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4928504" y="0"/>
                    <a:pt x="6350000" y="1421496"/>
                    <a:pt x="6350000" y="3175000"/>
                  </a:cubicBezTo>
                  <a:cubicBezTo>
                    <a:pt x="6350000" y="4928504"/>
                    <a:pt x="4928504" y="6350000"/>
                    <a:pt x="3175000" y="6350000"/>
                  </a:cubicBezTo>
                  <a:cubicBezTo>
                    <a:pt x="1421496" y="6350000"/>
                    <a:pt x="0" y="4928504"/>
                    <a:pt x="0" y="3175000"/>
                  </a:cubicBezTo>
                  <a:cubicBezTo>
                    <a:pt x="0" y="1421496"/>
                    <a:pt x="1421496" y="0"/>
                    <a:pt x="3175000" y="0"/>
                  </a:cubicBezTo>
                  <a:close/>
                </a:path>
              </a:pathLst>
            </a:custGeom>
            <a:blipFill>
              <a:blip r:embed="rId12"/>
              <a:stretch>
                <a:fillRect l="-38888" t="0" r="-38888" b="0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2805871" y="4098659"/>
            <a:ext cx="5382195" cy="1366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127"/>
              </a:lnSpc>
            </a:pPr>
            <a:r>
              <a:rPr lang="en-US" sz="1987" spc="-145">
                <a:solidFill>
                  <a:srgbClr val="794BD4"/>
                </a:solidFill>
                <a:latin typeface="Poppins"/>
                <a:ea typeface="Poppins"/>
                <a:cs typeface="Poppins"/>
                <a:sym typeface="Poppins"/>
              </a:rPr>
              <a:t>Construção do Dataset: questões alinhadas à versão atual do exame PMP 2026, com classificação por domínio (Pessoas, Processos, Ambiente de Negócios) e tipo (factual vs. situacional).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387483" y="4098659"/>
            <a:ext cx="5382195" cy="109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127"/>
              </a:lnSpc>
            </a:pPr>
            <a:r>
              <a:rPr lang="en-US" sz="1987" spc="-145">
                <a:solidFill>
                  <a:srgbClr val="794BD4"/>
                </a:solidFill>
                <a:latin typeface="Poppins"/>
                <a:ea typeface="Poppins"/>
                <a:cs typeface="Poppins"/>
                <a:sym typeface="Poppins"/>
              </a:rPr>
              <a:t>Experimento Controlado: modelo conceitual entrada → processo → saída. Execuções isoladas e múltiplas para avaliar estabilidade e consistência dos LLMs (ChatGPT, Gemini).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805871" y="6610758"/>
            <a:ext cx="5382195" cy="109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127"/>
              </a:lnSpc>
            </a:pPr>
            <a:r>
              <a:rPr lang="en-US" sz="1987" spc="-145">
                <a:solidFill>
                  <a:srgbClr val="794BD4"/>
                </a:solidFill>
                <a:latin typeface="Poppins"/>
                <a:ea typeface="Poppins"/>
                <a:cs typeface="Poppins"/>
                <a:sym typeface="Poppins"/>
              </a:rPr>
              <a:t>Variáveis do Estudo: independentes — estratégia de prompting, tipo de questão e domínio; dependentes — acurácia, consistência de resposta e categorização de erros.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387483" y="6610758"/>
            <a:ext cx="5382195" cy="109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127"/>
              </a:lnSpc>
            </a:pPr>
            <a:r>
              <a:rPr lang="en-US" sz="1987" spc="-145">
                <a:solidFill>
                  <a:srgbClr val="794BD4"/>
                </a:solidFill>
                <a:latin typeface="Poppins"/>
                <a:ea typeface="Poppins"/>
                <a:cs typeface="Poppins"/>
                <a:sym typeface="Poppins"/>
              </a:rPr>
              <a:t>Prompt Engineering: Zero-shot; Chain-of-Thought simplificado (prompt com explicação); Grounding opcional com contexto externo para avaliar impacto na acurácia.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8700" y="1684798"/>
            <a:ext cx="14318733" cy="1288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93"/>
              </a:lnSpc>
            </a:pPr>
            <a:r>
              <a:rPr lang="en-US" b="true" sz="9992" spc="-729">
                <a:solidFill>
                  <a:srgbClr val="794BD4"/>
                </a:solidFill>
                <a:latin typeface="Poppins Bold"/>
                <a:ea typeface="Poppins Bold"/>
                <a:cs typeface="Poppins Bold"/>
                <a:sym typeface="Poppins Bold"/>
              </a:rPr>
              <a:t>Metodologia Aplicada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68086" y="4597525"/>
            <a:ext cx="4566330" cy="3681355"/>
            <a:chOff x="0" y="0"/>
            <a:chExt cx="1202655" cy="9695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2655" cy="969575"/>
            </a:xfrm>
            <a:custGeom>
              <a:avLst/>
              <a:gdLst/>
              <a:ahLst/>
              <a:cxnLst/>
              <a:rect r="r" b="b" t="t" l="l"/>
              <a:pathLst>
                <a:path h="969575" w="1202655">
                  <a:moveTo>
                    <a:pt x="86467" y="0"/>
                  </a:moveTo>
                  <a:lnTo>
                    <a:pt x="1116188" y="0"/>
                  </a:lnTo>
                  <a:cubicBezTo>
                    <a:pt x="1139120" y="0"/>
                    <a:pt x="1161113" y="9110"/>
                    <a:pt x="1177329" y="25326"/>
                  </a:cubicBezTo>
                  <a:cubicBezTo>
                    <a:pt x="1193545" y="41541"/>
                    <a:pt x="1202655" y="63535"/>
                    <a:pt x="1202655" y="86467"/>
                  </a:cubicBezTo>
                  <a:lnTo>
                    <a:pt x="1202655" y="883108"/>
                  </a:lnTo>
                  <a:cubicBezTo>
                    <a:pt x="1202655" y="930862"/>
                    <a:pt x="1163942" y="969575"/>
                    <a:pt x="1116188" y="969575"/>
                  </a:cubicBezTo>
                  <a:lnTo>
                    <a:pt x="86467" y="969575"/>
                  </a:lnTo>
                  <a:cubicBezTo>
                    <a:pt x="63535" y="969575"/>
                    <a:pt x="41541" y="960465"/>
                    <a:pt x="25326" y="944249"/>
                  </a:cubicBezTo>
                  <a:cubicBezTo>
                    <a:pt x="9110" y="928034"/>
                    <a:pt x="0" y="906040"/>
                    <a:pt x="0" y="883108"/>
                  </a:cubicBezTo>
                  <a:lnTo>
                    <a:pt x="0" y="86467"/>
                  </a:lnTo>
                  <a:cubicBezTo>
                    <a:pt x="0" y="63535"/>
                    <a:pt x="9110" y="41541"/>
                    <a:pt x="25326" y="25326"/>
                  </a:cubicBezTo>
                  <a:cubicBezTo>
                    <a:pt x="41541" y="9110"/>
                    <a:pt x="63535" y="0"/>
                    <a:pt x="86467" y="0"/>
                  </a:cubicBezTo>
                  <a:close/>
                </a:path>
              </a:pathLst>
            </a:custGeom>
            <a:ln w="19050" cap="rnd">
              <a:solidFill>
                <a:srgbClr val="794BD4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57150"/>
              <a:ext cx="1202655" cy="912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4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001972" y="4597525"/>
            <a:ext cx="4566330" cy="3681355"/>
            <a:chOff x="0" y="0"/>
            <a:chExt cx="1202655" cy="9695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02655" cy="969575"/>
            </a:xfrm>
            <a:custGeom>
              <a:avLst/>
              <a:gdLst/>
              <a:ahLst/>
              <a:cxnLst/>
              <a:rect r="r" b="b" t="t" l="l"/>
              <a:pathLst>
                <a:path h="969575" w="1202655">
                  <a:moveTo>
                    <a:pt x="86467" y="0"/>
                  </a:moveTo>
                  <a:lnTo>
                    <a:pt x="1116188" y="0"/>
                  </a:lnTo>
                  <a:cubicBezTo>
                    <a:pt x="1139120" y="0"/>
                    <a:pt x="1161113" y="9110"/>
                    <a:pt x="1177329" y="25326"/>
                  </a:cubicBezTo>
                  <a:cubicBezTo>
                    <a:pt x="1193545" y="41541"/>
                    <a:pt x="1202655" y="63535"/>
                    <a:pt x="1202655" y="86467"/>
                  </a:cubicBezTo>
                  <a:lnTo>
                    <a:pt x="1202655" y="883108"/>
                  </a:lnTo>
                  <a:cubicBezTo>
                    <a:pt x="1202655" y="930862"/>
                    <a:pt x="1163942" y="969575"/>
                    <a:pt x="1116188" y="969575"/>
                  </a:cubicBezTo>
                  <a:lnTo>
                    <a:pt x="86467" y="969575"/>
                  </a:lnTo>
                  <a:cubicBezTo>
                    <a:pt x="63535" y="969575"/>
                    <a:pt x="41541" y="960465"/>
                    <a:pt x="25326" y="944249"/>
                  </a:cubicBezTo>
                  <a:cubicBezTo>
                    <a:pt x="9110" y="928034"/>
                    <a:pt x="0" y="906040"/>
                    <a:pt x="0" y="883108"/>
                  </a:cubicBezTo>
                  <a:lnTo>
                    <a:pt x="0" y="86467"/>
                  </a:lnTo>
                  <a:cubicBezTo>
                    <a:pt x="0" y="63535"/>
                    <a:pt x="9110" y="41541"/>
                    <a:pt x="25326" y="25326"/>
                  </a:cubicBezTo>
                  <a:cubicBezTo>
                    <a:pt x="41541" y="9110"/>
                    <a:pt x="63535" y="0"/>
                    <a:pt x="86467" y="0"/>
                  </a:cubicBezTo>
                  <a:close/>
                </a:path>
              </a:pathLst>
            </a:custGeom>
            <a:ln w="19050" cap="rnd">
              <a:solidFill>
                <a:srgbClr val="794BD4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57150"/>
              <a:ext cx="1202655" cy="912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4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85812" y="4238134"/>
            <a:ext cx="845931" cy="84593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463617" y="45143"/>
                  </a:lnTo>
                  <a:lnTo>
                    <a:pt x="531984" y="19891"/>
                  </a:lnTo>
                  <a:lnTo>
                    <a:pt x="572451" y="80505"/>
                  </a:lnTo>
                  <a:lnTo>
                    <a:pt x="645276" y="77616"/>
                  </a:lnTo>
                  <a:lnTo>
                    <a:pt x="665032" y="147768"/>
                  </a:lnTo>
                  <a:lnTo>
                    <a:pt x="735184" y="167524"/>
                  </a:lnTo>
                  <a:lnTo>
                    <a:pt x="732295" y="240349"/>
                  </a:lnTo>
                  <a:lnTo>
                    <a:pt x="792909" y="280816"/>
                  </a:lnTo>
                  <a:lnTo>
                    <a:pt x="767657" y="349183"/>
                  </a:lnTo>
                  <a:lnTo>
                    <a:pt x="812800" y="406400"/>
                  </a:lnTo>
                  <a:lnTo>
                    <a:pt x="767657" y="463617"/>
                  </a:lnTo>
                  <a:lnTo>
                    <a:pt x="792909" y="531984"/>
                  </a:lnTo>
                  <a:lnTo>
                    <a:pt x="732295" y="572451"/>
                  </a:lnTo>
                  <a:lnTo>
                    <a:pt x="735184" y="645276"/>
                  </a:lnTo>
                  <a:lnTo>
                    <a:pt x="665032" y="665032"/>
                  </a:lnTo>
                  <a:lnTo>
                    <a:pt x="645276" y="735184"/>
                  </a:lnTo>
                  <a:lnTo>
                    <a:pt x="572451" y="732295"/>
                  </a:lnTo>
                  <a:lnTo>
                    <a:pt x="531984" y="792909"/>
                  </a:lnTo>
                  <a:lnTo>
                    <a:pt x="463617" y="767657"/>
                  </a:lnTo>
                  <a:lnTo>
                    <a:pt x="406400" y="812800"/>
                  </a:lnTo>
                  <a:lnTo>
                    <a:pt x="349183" y="767657"/>
                  </a:lnTo>
                  <a:lnTo>
                    <a:pt x="280816" y="792909"/>
                  </a:lnTo>
                  <a:lnTo>
                    <a:pt x="240349" y="732295"/>
                  </a:lnTo>
                  <a:lnTo>
                    <a:pt x="167524" y="735184"/>
                  </a:lnTo>
                  <a:lnTo>
                    <a:pt x="147768" y="665032"/>
                  </a:lnTo>
                  <a:lnTo>
                    <a:pt x="77616" y="645276"/>
                  </a:lnTo>
                  <a:lnTo>
                    <a:pt x="80505" y="572451"/>
                  </a:lnTo>
                  <a:lnTo>
                    <a:pt x="19891" y="531984"/>
                  </a:lnTo>
                  <a:lnTo>
                    <a:pt x="45143" y="463617"/>
                  </a:lnTo>
                  <a:lnTo>
                    <a:pt x="0" y="406400"/>
                  </a:lnTo>
                  <a:lnTo>
                    <a:pt x="45143" y="349183"/>
                  </a:lnTo>
                  <a:lnTo>
                    <a:pt x="19891" y="280816"/>
                  </a:lnTo>
                  <a:lnTo>
                    <a:pt x="80505" y="240349"/>
                  </a:lnTo>
                  <a:lnTo>
                    <a:pt x="77616" y="167524"/>
                  </a:lnTo>
                  <a:lnTo>
                    <a:pt x="147768" y="147768"/>
                  </a:lnTo>
                  <a:lnTo>
                    <a:pt x="167524" y="77616"/>
                  </a:lnTo>
                  <a:lnTo>
                    <a:pt x="240349" y="80505"/>
                  </a:lnTo>
                  <a:lnTo>
                    <a:pt x="280816" y="19891"/>
                  </a:lnTo>
                  <a:lnTo>
                    <a:pt x="349183" y="45143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94BD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88900" y="146050"/>
              <a:ext cx="635000" cy="577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4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719698" y="4238134"/>
            <a:ext cx="845931" cy="84593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463617" y="45143"/>
                  </a:lnTo>
                  <a:lnTo>
                    <a:pt x="531984" y="19891"/>
                  </a:lnTo>
                  <a:lnTo>
                    <a:pt x="572451" y="80505"/>
                  </a:lnTo>
                  <a:lnTo>
                    <a:pt x="645276" y="77616"/>
                  </a:lnTo>
                  <a:lnTo>
                    <a:pt x="665032" y="147768"/>
                  </a:lnTo>
                  <a:lnTo>
                    <a:pt x="735184" y="167524"/>
                  </a:lnTo>
                  <a:lnTo>
                    <a:pt x="732295" y="240349"/>
                  </a:lnTo>
                  <a:lnTo>
                    <a:pt x="792909" y="280816"/>
                  </a:lnTo>
                  <a:lnTo>
                    <a:pt x="767657" y="349183"/>
                  </a:lnTo>
                  <a:lnTo>
                    <a:pt x="812800" y="406400"/>
                  </a:lnTo>
                  <a:lnTo>
                    <a:pt x="767657" y="463617"/>
                  </a:lnTo>
                  <a:lnTo>
                    <a:pt x="792909" y="531984"/>
                  </a:lnTo>
                  <a:lnTo>
                    <a:pt x="732295" y="572451"/>
                  </a:lnTo>
                  <a:lnTo>
                    <a:pt x="735184" y="645276"/>
                  </a:lnTo>
                  <a:lnTo>
                    <a:pt x="665032" y="665032"/>
                  </a:lnTo>
                  <a:lnTo>
                    <a:pt x="645276" y="735184"/>
                  </a:lnTo>
                  <a:lnTo>
                    <a:pt x="572451" y="732295"/>
                  </a:lnTo>
                  <a:lnTo>
                    <a:pt x="531984" y="792909"/>
                  </a:lnTo>
                  <a:lnTo>
                    <a:pt x="463617" y="767657"/>
                  </a:lnTo>
                  <a:lnTo>
                    <a:pt x="406400" y="812800"/>
                  </a:lnTo>
                  <a:lnTo>
                    <a:pt x="349183" y="767657"/>
                  </a:lnTo>
                  <a:lnTo>
                    <a:pt x="280816" y="792909"/>
                  </a:lnTo>
                  <a:lnTo>
                    <a:pt x="240349" y="732295"/>
                  </a:lnTo>
                  <a:lnTo>
                    <a:pt x="167524" y="735184"/>
                  </a:lnTo>
                  <a:lnTo>
                    <a:pt x="147768" y="665032"/>
                  </a:lnTo>
                  <a:lnTo>
                    <a:pt x="77616" y="645276"/>
                  </a:lnTo>
                  <a:lnTo>
                    <a:pt x="80505" y="572451"/>
                  </a:lnTo>
                  <a:lnTo>
                    <a:pt x="19891" y="531984"/>
                  </a:lnTo>
                  <a:lnTo>
                    <a:pt x="45143" y="463617"/>
                  </a:lnTo>
                  <a:lnTo>
                    <a:pt x="0" y="406400"/>
                  </a:lnTo>
                  <a:lnTo>
                    <a:pt x="45143" y="349183"/>
                  </a:lnTo>
                  <a:lnTo>
                    <a:pt x="19891" y="280816"/>
                  </a:lnTo>
                  <a:lnTo>
                    <a:pt x="80505" y="240349"/>
                  </a:lnTo>
                  <a:lnTo>
                    <a:pt x="77616" y="167524"/>
                  </a:lnTo>
                  <a:lnTo>
                    <a:pt x="147768" y="147768"/>
                  </a:lnTo>
                  <a:lnTo>
                    <a:pt x="167524" y="77616"/>
                  </a:lnTo>
                  <a:lnTo>
                    <a:pt x="240349" y="80505"/>
                  </a:lnTo>
                  <a:lnTo>
                    <a:pt x="280816" y="19891"/>
                  </a:lnTo>
                  <a:lnTo>
                    <a:pt x="349183" y="45143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94BD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88900" y="146050"/>
              <a:ext cx="635000" cy="577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4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235858" y="4597525"/>
            <a:ext cx="4566330" cy="3681355"/>
            <a:chOff x="0" y="0"/>
            <a:chExt cx="1202655" cy="96957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02655" cy="969575"/>
            </a:xfrm>
            <a:custGeom>
              <a:avLst/>
              <a:gdLst/>
              <a:ahLst/>
              <a:cxnLst/>
              <a:rect r="r" b="b" t="t" l="l"/>
              <a:pathLst>
                <a:path h="969575" w="1202655">
                  <a:moveTo>
                    <a:pt x="86467" y="0"/>
                  </a:moveTo>
                  <a:lnTo>
                    <a:pt x="1116188" y="0"/>
                  </a:lnTo>
                  <a:cubicBezTo>
                    <a:pt x="1139120" y="0"/>
                    <a:pt x="1161113" y="9110"/>
                    <a:pt x="1177329" y="25326"/>
                  </a:cubicBezTo>
                  <a:cubicBezTo>
                    <a:pt x="1193545" y="41541"/>
                    <a:pt x="1202655" y="63535"/>
                    <a:pt x="1202655" y="86467"/>
                  </a:cubicBezTo>
                  <a:lnTo>
                    <a:pt x="1202655" y="883108"/>
                  </a:lnTo>
                  <a:cubicBezTo>
                    <a:pt x="1202655" y="930862"/>
                    <a:pt x="1163942" y="969575"/>
                    <a:pt x="1116188" y="969575"/>
                  </a:cubicBezTo>
                  <a:lnTo>
                    <a:pt x="86467" y="969575"/>
                  </a:lnTo>
                  <a:cubicBezTo>
                    <a:pt x="63535" y="969575"/>
                    <a:pt x="41541" y="960465"/>
                    <a:pt x="25326" y="944249"/>
                  </a:cubicBezTo>
                  <a:cubicBezTo>
                    <a:pt x="9110" y="928034"/>
                    <a:pt x="0" y="906040"/>
                    <a:pt x="0" y="883108"/>
                  </a:cubicBezTo>
                  <a:lnTo>
                    <a:pt x="0" y="86467"/>
                  </a:lnTo>
                  <a:cubicBezTo>
                    <a:pt x="0" y="63535"/>
                    <a:pt x="9110" y="41541"/>
                    <a:pt x="25326" y="25326"/>
                  </a:cubicBezTo>
                  <a:cubicBezTo>
                    <a:pt x="41541" y="9110"/>
                    <a:pt x="63535" y="0"/>
                    <a:pt x="86467" y="0"/>
                  </a:cubicBezTo>
                  <a:close/>
                </a:path>
              </a:pathLst>
            </a:custGeom>
            <a:ln w="19050" cap="rnd">
              <a:solidFill>
                <a:srgbClr val="794BD4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57150"/>
              <a:ext cx="1202655" cy="912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4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953584" y="4238134"/>
            <a:ext cx="845931" cy="845931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463617" y="45143"/>
                  </a:lnTo>
                  <a:lnTo>
                    <a:pt x="531984" y="19891"/>
                  </a:lnTo>
                  <a:lnTo>
                    <a:pt x="572451" y="80505"/>
                  </a:lnTo>
                  <a:lnTo>
                    <a:pt x="645276" y="77616"/>
                  </a:lnTo>
                  <a:lnTo>
                    <a:pt x="665032" y="147768"/>
                  </a:lnTo>
                  <a:lnTo>
                    <a:pt x="735184" y="167524"/>
                  </a:lnTo>
                  <a:lnTo>
                    <a:pt x="732295" y="240349"/>
                  </a:lnTo>
                  <a:lnTo>
                    <a:pt x="792909" y="280816"/>
                  </a:lnTo>
                  <a:lnTo>
                    <a:pt x="767657" y="349183"/>
                  </a:lnTo>
                  <a:lnTo>
                    <a:pt x="812800" y="406400"/>
                  </a:lnTo>
                  <a:lnTo>
                    <a:pt x="767657" y="463617"/>
                  </a:lnTo>
                  <a:lnTo>
                    <a:pt x="792909" y="531984"/>
                  </a:lnTo>
                  <a:lnTo>
                    <a:pt x="732295" y="572451"/>
                  </a:lnTo>
                  <a:lnTo>
                    <a:pt x="735184" y="645276"/>
                  </a:lnTo>
                  <a:lnTo>
                    <a:pt x="665032" y="665032"/>
                  </a:lnTo>
                  <a:lnTo>
                    <a:pt x="645276" y="735184"/>
                  </a:lnTo>
                  <a:lnTo>
                    <a:pt x="572451" y="732295"/>
                  </a:lnTo>
                  <a:lnTo>
                    <a:pt x="531984" y="792909"/>
                  </a:lnTo>
                  <a:lnTo>
                    <a:pt x="463617" y="767657"/>
                  </a:lnTo>
                  <a:lnTo>
                    <a:pt x="406400" y="812800"/>
                  </a:lnTo>
                  <a:lnTo>
                    <a:pt x="349183" y="767657"/>
                  </a:lnTo>
                  <a:lnTo>
                    <a:pt x="280816" y="792909"/>
                  </a:lnTo>
                  <a:lnTo>
                    <a:pt x="240349" y="732295"/>
                  </a:lnTo>
                  <a:lnTo>
                    <a:pt x="167524" y="735184"/>
                  </a:lnTo>
                  <a:lnTo>
                    <a:pt x="147768" y="665032"/>
                  </a:lnTo>
                  <a:lnTo>
                    <a:pt x="77616" y="645276"/>
                  </a:lnTo>
                  <a:lnTo>
                    <a:pt x="80505" y="572451"/>
                  </a:lnTo>
                  <a:lnTo>
                    <a:pt x="19891" y="531984"/>
                  </a:lnTo>
                  <a:lnTo>
                    <a:pt x="45143" y="463617"/>
                  </a:lnTo>
                  <a:lnTo>
                    <a:pt x="0" y="406400"/>
                  </a:lnTo>
                  <a:lnTo>
                    <a:pt x="45143" y="349183"/>
                  </a:lnTo>
                  <a:lnTo>
                    <a:pt x="19891" y="280816"/>
                  </a:lnTo>
                  <a:lnTo>
                    <a:pt x="80505" y="240349"/>
                  </a:lnTo>
                  <a:lnTo>
                    <a:pt x="77616" y="167524"/>
                  </a:lnTo>
                  <a:lnTo>
                    <a:pt x="147768" y="147768"/>
                  </a:lnTo>
                  <a:lnTo>
                    <a:pt x="167524" y="77616"/>
                  </a:lnTo>
                  <a:lnTo>
                    <a:pt x="240349" y="80505"/>
                  </a:lnTo>
                  <a:lnTo>
                    <a:pt x="280816" y="19891"/>
                  </a:lnTo>
                  <a:lnTo>
                    <a:pt x="349183" y="45143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94BD4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88900" y="146050"/>
              <a:ext cx="635000" cy="577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4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true" flipV="false" rot="0">
            <a:off x="-2848024" y="823711"/>
            <a:ext cx="6899275" cy="8886654"/>
          </a:xfrm>
          <a:custGeom>
            <a:avLst/>
            <a:gdLst/>
            <a:ahLst/>
            <a:cxnLst/>
            <a:rect r="r" b="b" t="t" l="l"/>
            <a:pathLst>
              <a:path h="8886654" w="6899275">
                <a:moveTo>
                  <a:pt x="6899275" y="0"/>
                </a:moveTo>
                <a:lnTo>
                  <a:pt x="0" y="0"/>
                </a:lnTo>
                <a:lnTo>
                  <a:pt x="0" y="8886653"/>
                </a:lnTo>
                <a:lnTo>
                  <a:pt x="6899275" y="8886653"/>
                </a:lnTo>
                <a:lnTo>
                  <a:pt x="6899275" y="0"/>
                </a:lnTo>
                <a:close/>
              </a:path>
            </a:pathLst>
          </a:custGeom>
          <a:blipFill>
            <a:blip r:embed="rId2">
              <a:alphaModFix amt="5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548640" y="6446520"/>
            <a:ext cx="3291840" cy="3291840"/>
            <a:chOff x="0" y="0"/>
            <a:chExt cx="6350000" cy="6350000"/>
          </a:xfrm>
        </p:grpSpPr>
        <p:sp>
          <p:nvSpPr>
            <p:cNvPr name="Freeform 22" id="22"/>
            <p:cNvSpPr/>
            <p:nvPr/>
          </p:nvSpPr>
          <p:spPr>
            <a:xfrm flipH="tru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4928504" y="0"/>
                    <a:pt x="6350000" y="1421496"/>
                    <a:pt x="6350000" y="3175000"/>
                  </a:cubicBezTo>
                  <a:cubicBezTo>
                    <a:pt x="6350000" y="4928504"/>
                    <a:pt x="4928504" y="6350000"/>
                    <a:pt x="3175000" y="6350000"/>
                  </a:cubicBezTo>
                  <a:cubicBezTo>
                    <a:pt x="1421496" y="6350000"/>
                    <a:pt x="0" y="4928504"/>
                    <a:pt x="0" y="3175000"/>
                  </a:cubicBezTo>
                  <a:cubicBezTo>
                    <a:pt x="0" y="1421496"/>
                    <a:pt x="1421496" y="0"/>
                    <a:pt x="3175000" y="0"/>
                  </a:cubicBezTo>
                  <a:close/>
                </a:path>
              </a:pathLst>
            </a:custGeom>
            <a:blipFill>
              <a:blip r:embed="rId4"/>
              <a:stretch>
                <a:fillRect l="-38888" t="0" r="-38888" b="0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908778" y="1684798"/>
            <a:ext cx="14673960" cy="1273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87"/>
              </a:lnSpc>
            </a:pPr>
            <a:r>
              <a:rPr lang="en-US" b="true" sz="9869" spc="-720">
                <a:solidFill>
                  <a:srgbClr val="794BD4"/>
                </a:solidFill>
                <a:latin typeface="Poppins Bold"/>
                <a:ea typeface="Poppins Bold"/>
                <a:cs typeface="Poppins Bold"/>
                <a:sym typeface="Poppins Bold"/>
              </a:rPr>
              <a:t>Construção do </a:t>
            </a:r>
            <a:r>
              <a:rPr lang="en-US" b="true" sz="9869" spc="-720">
                <a:solidFill>
                  <a:srgbClr val="794BD4"/>
                </a:solidFill>
                <a:latin typeface="Poppins Bold"/>
                <a:ea typeface="Poppins Bold"/>
                <a:cs typeface="Poppins Bold"/>
                <a:sym typeface="Poppins Bold"/>
              </a:rPr>
              <a:t>Dataset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094585" y="5093590"/>
            <a:ext cx="3913331" cy="2031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73"/>
              </a:lnSpc>
            </a:pPr>
            <a:r>
              <a:rPr lang="en-US" sz="2498" spc="-182">
                <a:solidFill>
                  <a:srgbClr val="794BD4"/>
                </a:solidFill>
                <a:latin typeface="Poppins"/>
                <a:ea typeface="Poppins"/>
                <a:cs typeface="Poppins"/>
                <a:sym typeface="Poppins"/>
              </a:rPr>
              <a:t>Dataset rigorosamente alinhado ao exame PMP atual, com questões representativas dos domínios e formatos vigentes do exame 2026.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328471" y="5093590"/>
            <a:ext cx="3913331" cy="1698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73"/>
              </a:lnSpc>
            </a:pPr>
            <a:r>
              <a:rPr lang="en-US" sz="2498" spc="-182">
                <a:solidFill>
                  <a:srgbClr val="794BD4"/>
                </a:solidFill>
                <a:latin typeface="Poppins"/>
                <a:ea typeface="Poppins"/>
                <a:cs typeface="Poppins"/>
                <a:sym typeface="Poppins"/>
              </a:rPr>
              <a:t>Classificação detalhada por domínio (Pessoas, Processos, Ambiente de Negócios) e tipo de questão (factual e situacional).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85812" y="4445835"/>
            <a:ext cx="843270" cy="440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07"/>
              </a:lnSpc>
            </a:pPr>
            <a:r>
              <a:rPr lang="en-US" b="true" sz="2997" spc="-21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05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719698" y="4445835"/>
            <a:ext cx="843270" cy="440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07"/>
              </a:lnSpc>
            </a:pPr>
            <a:r>
              <a:rPr lang="en-US" b="true" sz="2997" spc="-21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06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562357" y="5093590"/>
            <a:ext cx="3913331" cy="2031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73"/>
              </a:lnSpc>
            </a:pPr>
            <a:r>
              <a:rPr lang="en-US" sz="2498" spc="-182">
                <a:solidFill>
                  <a:srgbClr val="794BD4"/>
                </a:solidFill>
                <a:latin typeface="Poppins"/>
                <a:ea typeface="Poppins"/>
                <a:cs typeface="Poppins"/>
                <a:sym typeface="Poppins"/>
              </a:rPr>
              <a:t>Execuções controladas e isoladas com múltiplas rodadas por questão para medir estabilidade, consistência e variabilidade nas respostas dos LLMs.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953584" y="4445835"/>
            <a:ext cx="843270" cy="440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07"/>
              </a:lnSpc>
            </a:pPr>
            <a:r>
              <a:rPr lang="en-US" b="true" sz="2997" spc="-21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07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10800000">
            <a:off x="9928527" y="0"/>
            <a:ext cx="8476268" cy="4238134"/>
          </a:xfrm>
          <a:custGeom>
            <a:avLst/>
            <a:gdLst/>
            <a:ahLst/>
            <a:cxnLst/>
            <a:rect r="r" b="b" t="t" l="l"/>
            <a:pathLst>
              <a:path h="4238134" w="8476268">
                <a:moveTo>
                  <a:pt x="8476269" y="0"/>
                </a:moveTo>
                <a:lnTo>
                  <a:pt x="0" y="0"/>
                </a:lnTo>
                <a:lnTo>
                  <a:pt x="0" y="4238134"/>
                </a:lnTo>
                <a:lnTo>
                  <a:pt x="8476269" y="4238134"/>
                </a:lnTo>
                <a:lnTo>
                  <a:pt x="8476269" y="0"/>
                </a:lnTo>
                <a:close/>
              </a:path>
            </a:pathLst>
          </a:custGeom>
          <a:blipFill>
            <a:blip r:embed="rId2">
              <a:alphaModFix amt="3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4053923"/>
            <a:ext cx="9181898" cy="4614888"/>
            <a:chOff x="0" y="0"/>
            <a:chExt cx="2418278" cy="121544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18278" cy="1215444"/>
            </a:xfrm>
            <a:custGeom>
              <a:avLst/>
              <a:gdLst/>
              <a:ahLst/>
              <a:cxnLst/>
              <a:rect r="r" b="b" t="t" l="l"/>
              <a:pathLst>
                <a:path h="1215444" w="2418278">
                  <a:moveTo>
                    <a:pt x="43002" y="0"/>
                  </a:moveTo>
                  <a:lnTo>
                    <a:pt x="2375276" y="0"/>
                  </a:lnTo>
                  <a:cubicBezTo>
                    <a:pt x="2386681" y="0"/>
                    <a:pt x="2397618" y="4531"/>
                    <a:pt x="2405683" y="12595"/>
                  </a:cubicBezTo>
                  <a:cubicBezTo>
                    <a:pt x="2413747" y="20659"/>
                    <a:pt x="2418278" y="31597"/>
                    <a:pt x="2418278" y="43002"/>
                  </a:cubicBezTo>
                  <a:lnTo>
                    <a:pt x="2418278" y="1172442"/>
                  </a:lnTo>
                  <a:cubicBezTo>
                    <a:pt x="2418278" y="1196191"/>
                    <a:pt x="2399025" y="1215444"/>
                    <a:pt x="2375276" y="1215444"/>
                  </a:cubicBezTo>
                  <a:lnTo>
                    <a:pt x="43002" y="1215444"/>
                  </a:lnTo>
                  <a:cubicBezTo>
                    <a:pt x="31597" y="1215444"/>
                    <a:pt x="20659" y="1210913"/>
                    <a:pt x="12595" y="1202849"/>
                  </a:cubicBezTo>
                  <a:cubicBezTo>
                    <a:pt x="4531" y="1194784"/>
                    <a:pt x="0" y="1183847"/>
                    <a:pt x="0" y="1172442"/>
                  </a:cubicBezTo>
                  <a:lnTo>
                    <a:pt x="0" y="43002"/>
                  </a:lnTo>
                  <a:cubicBezTo>
                    <a:pt x="0" y="31597"/>
                    <a:pt x="4531" y="20659"/>
                    <a:pt x="12595" y="12595"/>
                  </a:cubicBezTo>
                  <a:cubicBezTo>
                    <a:pt x="20659" y="4531"/>
                    <a:pt x="31597" y="0"/>
                    <a:pt x="43002" y="0"/>
                  </a:cubicBezTo>
                  <a:close/>
                </a:path>
              </a:pathLst>
            </a:custGeom>
            <a:ln w="19050" cap="rnd">
              <a:solidFill>
                <a:srgbClr val="794BD4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57150"/>
              <a:ext cx="2418278" cy="11582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4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602743" y="4053923"/>
            <a:ext cx="6656557" cy="4614888"/>
            <a:chOff x="0" y="0"/>
            <a:chExt cx="1753167" cy="12154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53167" cy="1215444"/>
            </a:xfrm>
            <a:custGeom>
              <a:avLst/>
              <a:gdLst/>
              <a:ahLst/>
              <a:cxnLst/>
              <a:rect r="r" b="b" t="t" l="l"/>
              <a:pathLst>
                <a:path h="1215444" w="1753167">
                  <a:moveTo>
                    <a:pt x="59316" y="0"/>
                  </a:moveTo>
                  <a:lnTo>
                    <a:pt x="1693852" y="0"/>
                  </a:lnTo>
                  <a:cubicBezTo>
                    <a:pt x="1709583" y="0"/>
                    <a:pt x="1724670" y="6249"/>
                    <a:pt x="1735794" y="17373"/>
                  </a:cubicBezTo>
                  <a:cubicBezTo>
                    <a:pt x="1746918" y="28497"/>
                    <a:pt x="1753167" y="43584"/>
                    <a:pt x="1753167" y="59316"/>
                  </a:cubicBezTo>
                  <a:lnTo>
                    <a:pt x="1753167" y="1156128"/>
                  </a:lnTo>
                  <a:cubicBezTo>
                    <a:pt x="1753167" y="1171859"/>
                    <a:pt x="1746918" y="1186947"/>
                    <a:pt x="1735794" y="1198070"/>
                  </a:cubicBezTo>
                  <a:cubicBezTo>
                    <a:pt x="1724670" y="1209194"/>
                    <a:pt x="1709583" y="1215444"/>
                    <a:pt x="1693852" y="1215444"/>
                  </a:cubicBezTo>
                  <a:lnTo>
                    <a:pt x="59316" y="1215444"/>
                  </a:lnTo>
                  <a:cubicBezTo>
                    <a:pt x="43584" y="1215444"/>
                    <a:pt x="28497" y="1209194"/>
                    <a:pt x="17373" y="1198070"/>
                  </a:cubicBezTo>
                  <a:cubicBezTo>
                    <a:pt x="6249" y="1186947"/>
                    <a:pt x="0" y="1171859"/>
                    <a:pt x="0" y="1156128"/>
                  </a:cubicBezTo>
                  <a:lnTo>
                    <a:pt x="0" y="59316"/>
                  </a:lnTo>
                  <a:cubicBezTo>
                    <a:pt x="0" y="43584"/>
                    <a:pt x="6249" y="28497"/>
                    <a:pt x="17373" y="17373"/>
                  </a:cubicBezTo>
                  <a:cubicBezTo>
                    <a:pt x="28497" y="6249"/>
                    <a:pt x="43584" y="0"/>
                    <a:pt x="59316" y="0"/>
                  </a:cubicBezTo>
                  <a:close/>
                </a:path>
              </a:pathLst>
            </a:custGeom>
            <a:ln w="19050" cap="rnd">
              <a:solidFill>
                <a:srgbClr val="794BD4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57150"/>
              <a:ext cx="1753167" cy="11582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4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48640" y="6446520"/>
            <a:ext cx="3291840" cy="3291840"/>
            <a:chOff x="0" y="0"/>
            <a:chExt cx="6350000" cy="6350000"/>
          </a:xfrm>
        </p:grpSpPr>
        <p:sp>
          <p:nvSpPr>
            <p:cNvPr name="Freeform 10" id="10"/>
            <p:cNvSpPr/>
            <p:nvPr/>
          </p:nvSpPr>
          <p:spPr>
            <a:xfrm flipH="tru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4928504" y="0"/>
                    <a:pt x="6350000" y="1421496"/>
                    <a:pt x="6350000" y="3175000"/>
                  </a:cubicBezTo>
                  <a:cubicBezTo>
                    <a:pt x="6350000" y="4928504"/>
                    <a:pt x="4928504" y="6350000"/>
                    <a:pt x="3175000" y="6350000"/>
                  </a:cubicBezTo>
                  <a:cubicBezTo>
                    <a:pt x="1421496" y="6350000"/>
                    <a:pt x="0" y="4928504"/>
                    <a:pt x="0" y="3175000"/>
                  </a:cubicBezTo>
                  <a:cubicBezTo>
                    <a:pt x="0" y="1421496"/>
                    <a:pt x="1421496" y="0"/>
                    <a:pt x="3175000" y="0"/>
                  </a:cubicBezTo>
                  <a:close/>
                </a:path>
              </a:pathLst>
            </a:custGeom>
            <a:blipFill>
              <a:blip r:embed="rId4"/>
              <a:stretch>
                <a:fillRect l="-38888" t="0" r="-38888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48640" y="6446520"/>
            <a:ext cx="3291840" cy="3291840"/>
            <a:chOff x="0" y="0"/>
            <a:chExt cx="6350000" cy="6350000"/>
          </a:xfrm>
        </p:grpSpPr>
        <p:sp>
          <p:nvSpPr>
            <p:cNvPr name="Freeform 12" id="12"/>
            <p:cNvSpPr/>
            <p:nvPr/>
          </p:nvSpPr>
          <p:spPr>
            <a:xfrm flipH="tru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4928504" y="0"/>
                    <a:pt x="6350000" y="1421496"/>
                    <a:pt x="6350000" y="3175000"/>
                  </a:cubicBezTo>
                  <a:cubicBezTo>
                    <a:pt x="6350000" y="4928504"/>
                    <a:pt x="4928504" y="6350000"/>
                    <a:pt x="3175000" y="6350000"/>
                  </a:cubicBezTo>
                  <a:cubicBezTo>
                    <a:pt x="1421496" y="6350000"/>
                    <a:pt x="0" y="4928504"/>
                    <a:pt x="0" y="3175000"/>
                  </a:cubicBezTo>
                  <a:cubicBezTo>
                    <a:pt x="0" y="1421496"/>
                    <a:pt x="1421496" y="0"/>
                    <a:pt x="3175000" y="0"/>
                  </a:cubicBezTo>
                  <a:close/>
                </a:path>
              </a:pathLst>
            </a:custGeom>
            <a:blipFill>
              <a:blip r:embed="rId5"/>
              <a:stretch>
                <a:fillRect l="-38888" t="0" r="-38888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2637316" y="1516784"/>
            <a:ext cx="13850118" cy="1284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05"/>
              </a:lnSpc>
            </a:pPr>
            <a:r>
              <a:rPr lang="en-US" b="true" sz="9889" spc="-721">
                <a:solidFill>
                  <a:srgbClr val="794BD4"/>
                </a:solidFill>
                <a:latin typeface="Poppins Bold"/>
                <a:ea typeface="Poppins Bold"/>
                <a:cs typeface="Poppins Bold"/>
                <a:sym typeface="Poppins Bold"/>
              </a:rPr>
              <a:t>Resultados Esperados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128085" y="9148445"/>
            <a:ext cx="4131215" cy="18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295"/>
              </a:lnSpc>
            </a:pPr>
            <a:r>
              <a:rPr lang="en-US" sz="1506" spc="-109">
                <a:solidFill>
                  <a:srgbClr val="794BD4"/>
                </a:solidFill>
                <a:latin typeface="Poppins"/>
                <a:ea typeface="Poppins"/>
                <a:cs typeface="Poppins"/>
                <a:sym typeface="Poppins"/>
              </a:rPr>
              <a:t>Pitch de Qualificação, 2026.1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76923" y="4507167"/>
            <a:ext cx="7885452" cy="2755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015"/>
              </a:lnSpc>
            </a:pPr>
            <a:r>
              <a:rPr lang="en-US" sz="1883" spc="-137">
                <a:solidFill>
                  <a:srgbClr val="794BD4"/>
                </a:solidFill>
                <a:latin typeface="Poppins"/>
                <a:ea typeface="Poppins"/>
                <a:cs typeface="Poppins"/>
                <a:sym typeface="Poppins"/>
              </a:rPr>
              <a:t>Análise Quantitativa</a:t>
            </a:r>
          </a:p>
          <a:p>
            <a:pPr algn="just" marL="0" indent="0" lvl="0">
              <a:lnSpc>
                <a:spcPts val="2015"/>
              </a:lnSpc>
            </a:pPr>
            <a:r>
              <a:rPr lang="en-US" sz="1883" spc="-137">
                <a:solidFill>
                  <a:srgbClr val="794BD4"/>
                </a:solidFill>
                <a:latin typeface="Poppins"/>
                <a:ea typeface="Poppins"/>
                <a:cs typeface="Poppins"/>
                <a:sym typeface="Poppins"/>
              </a:rPr>
              <a:t>Acurácia Geral dos LLMs: desempenho médio medido em múltiplas execuções isoladas, com variação entre modelos (ChatGPT vs. Gemini).</a:t>
            </a:r>
          </a:p>
          <a:p>
            <a:pPr algn="just" marL="0" indent="0" lvl="0">
              <a:lnSpc>
                <a:spcPts val="2015"/>
              </a:lnSpc>
            </a:pPr>
            <a:r>
              <a:rPr lang="en-US" sz="1883" spc="-137">
                <a:solidFill>
                  <a:srgbClr val="794BD4"/>
                </a:solidFill>
                <a:latin typeface="Poppins"/>
                <a:ea typeface="Poppins"/>
                <a:cs typeface="Poppins"/>
                <a:sym typeface="Poppins"/>
              </a:rPr>
              <a:t>Desempenho por Domínio: resultados segmentados por Pessoas, Processos e Ambiente de Negócios, revelando domínios com maior taxa de erro.</a:t>
            </a:r>
          </a:p>
          <a:p>
            <a:pPr algn="just" marL="0" indent="0" lvl="0">
              <a:lnSpc>
                <a:spcPts val="2015"/>
              </a:lnSpc>
            </a:pPr>
            <a:r>
              <a:rPr lang="en-US" sz="1883" spc="-137">
                <a:solidFill>
                  <a:srgbClr val="794BD4"/>
                </a:solidFill>
                <a:latin typeface="Poppins"/>
                <a:ea typeface="Poppins"/>
                <a:cs typeface="Poppins"/>
                <a:sym typeface="Poppins"/>
              </a:rPr>
              <a:t>Desempenho por Tipo de Questão: comparação entre questões factuais e situacionais, evidenciando maior dificuldade nas questões de julgamento contextual.</a:t>
            </a:r>
          </a:p>
          <a:p>
            <a:pPr algn="just" marL="0" indent="0" lvl="0">
              <a:lnSpc>
                <a:spcPts val="2015"/>
              </a:lnSpc>
            </a:pPr>
            <a:r>
              <a:rPr lang="en-US" sz="1883" spc="-137">
                <a:solidFill>
                  <a:srgbClr val="794BD4"/>
                </a:solidFill>
                <a:latin typeface="Poppins"/>
                <a:ea typeface="Poppins"/>
                <a:cs typeface="Poppins"/>
                <a:sym typeface="Poppins"/>
              </a:rPr>
              <a:t>Comparação de Estratégias de Prompting: zero-shot vs. Chain-of-Thought simplificado vs. grounding com contexto externo, com impacto mensurável na acurácia e consistência.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042006" y="4507167"/>
            <a:ext cx="5778032" cy="3498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015"/>
              </a:lnSpc>
            </a:pPr>
            <a:r>
              <a:rPr lang="en-US" sz="1883" spc="-137">
                <a:solidFill>
                  <a:srgbClr val="794BD4"/>
                </a:solidFill>
                <a:latin typeface="Poppins"/>
                <a:ea typeface="Poppins"/>
                <a:cs typeface="Poppins"/>
                <a:sym typeface="Poppins"/>
              </a:rPr>
              <a:t>Análise Qualitativa</a:t>
            </a:r>
          </a:p>
          <a:p>
            <a:pPr algn="just" marL="0" indent="0" lvl="0">
              <a:lnSpc>
                <a:spcPts val="2015"/>
              </a:lnSpc>
            </a:pPr>
            <a:r>
              <a:rPr lang="en-US" sz="1883" spc="-137">
                <a:solidFill>
                  <a:srgbClr val="794BD4"/>
                </a:solidFill>
                <a:latin typeface="Poppins"/>
                <a:ea typeface="Poppins"/>
                <a:cs typeface="Poppins"/>
                <a:sym typeface="Poppins"/>
              </a:rPr>
              <a:t>Padrões de Erro Identificados:</a:t>
            </a:r>
          </a:p>
          <a:p>
            <a:pPr algn="just" marL="0" indent="0" lvl="0">
              <a:lnSpc>
                <a:spcPts val="2015"/>
              </a:lnSpc>
            </a:pPr>
            <a:r>
              <a:rPr lang="en-US" sz="1883" spc="-137">
                <a:solidFill>
                  <a:srgbClr val="794BD4"/>
                </a:solidFill>
                <a:latin typeface="Poppins"/>
                <a:ea typeface="Poppins"/>
                <a:cs typeface="Poppins"/>
                <a:sym typeface="Poppins"/>
              </a:rPr>
              <a:t>• Erros factuais: confusão entre conceitos e terminologias do PMBOK</a:t>
            </a:r>
          </a:p>
          <a:p>
            <a:pPr algn="just" marL="0" indent="0" lvl="0">
              <a:lnSpc>
                <a:spcPts val="2015"/>
              </a:lnSpc>
            </a:pPr>
            <a:r>
              <a:rPr lang="en-US" sz="1883" spc="-137">
                <a:solidFill>
                  <a:srgbClr val="794BD4"/>
                </a:solidFill>
                <a:latin typeface="Poppins"/>
                <a:ea typeface="Poppins"/>
                <a:cs typeface="Poppins"/>
                <a:sym typeface="Poppins"/>
              </a:rPr>
              <a:t>• Interpretação superficial: respostas baseadas em palavras-chave sem compreensão situacional</a:t>
            </a:r>
          </a:p>
          <a:p>
            <a:pPr algn="just" marL="0" indent="0" lvl="0">
              <a:lnSpc>
                <a:spcPts val="2015"/>
              </a:lnSpc>
            </a:pPr>
            <a:r>
              <a:rPr lang="en-US" sz="1883" spc="-137">
                <a:solidFill>
                  <a:srgbClr val="794BD4"/>
                </a:solidFill>
                <a:latin typeface="Poppins"/>
                <a:ea typeface="Poppins"/>
                <a:cs typeface="Poppins"/>
                <a:sym typeface="Poppins"/>
              </a:rPr>
              <a:t>• Falhas de julgamento situacional: dificuldade em selecionar a melhor resposta em cenários complexos</a:t>
            </a:r>
          </a:p>
          <a:p>
            <a:pPr algn="just" marL="0" indent="0" lvl="0">
              <a:lnSpc>
                <a:spcPts val="2015"/>
              </a:lnSpc>
            </a:pPr>
            <a:r>
              <a:rPr lang="en-US" sz="1883" spc="-137">
                <a:solidFill>
                  <a:srgbClr val="794BD4"/>
                </a:solidFill>
                <a:latin typeface="Poppins"/>
                <a:ea typeface="Poppins"/>
                <a:cs typeface="Poppins"/>
                <a:sym typeface="Poppins"/>
              </a:rPr>
              <a:t>Qualidade das Justificativas: avaliação da coerência, completude e relevância das explicações geradas pelos modelos para cada alternativa.</a:t>
            </a:r>
          </a:p>
          <a:p>
            <a:pPr algn="just" marL="0" indent="0" lvl="0">
              <a:lnSpc>
                <a:spcPts val="2015"/>
              </a:lnSpc>
            </a:pPr>
            <a:r>
              <a:rPr lang="en-US" sz="1883" spc="-137">
                <a:solidFill>
                  <a:srgbClr val="794BD4"/>
                </a:solidFill>
                <a:latin typeface="Poppins"/>
                <a:ea typeface="Poppins"/>
                <a:cs typeface="Poppins"/>
                <a:sym typeface="Poppins"/>
              </a:rPr>
              <a:t>Estabilidade e Consistência: análise da variação de respostas em execuções múltiplas para a mesma questão, identificando instabilidades por tipo e domínio.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DAC9FF">
                <a:alpha val="100000"/>
              </a:srgbClr>
            </a:gs>
            <a:gs pos="100000">
              <a:srgbClr val="7045C6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1087100" y="-77788"/>
            <a:ext cx="7200900" cy="7200900"/>
          </a:xfrm>
          <a:custGeom>
            <a:avLst/>
            <a:gdLst/>
            <a:ahLst/>
            <a:cxnLst/>
            <a:rect r="r" b="b" t="t" l="l"/>
            <a:pathLst>
              <a:path h="7200900" w="7200900">
                <a:moveTo>
                  <a:pt x="0" y="7200900"/>
                </a:moveTo>
                <a:lnTo>
                  <a:pt x="7200900" y="7200900"/>
                </a:lnTo>
                <a:lnTo>
                  <a:pt x="7200900" y="0"/>
                </a:lnTo>
                <a:lnTo>
                  <a:pt x="0" y="0"/>
                </a:lnTo>
                <a:lnTo>
                  <a:pt x="0" y="720090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3104409"/>
            <a:ext cx="16230600" cy="1527940"/>
            <a:chOff x="0" y="0"/>
            <a:chExt cx="4274726" cy="4024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402420"/>
            </a:xfrm>
            <a:custGeom>
              <a:avLst/>
              <a:gdLst/>
              <a:ahLst/>
              <a:cxnLst/>
              <a:rect r="r" b="b" t="t" l="l"/>
              <a:pathLst>
                <a:path h="402420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378094"/>
                  </a:lnTo>
                  <a:cubicBezTo>
                    <a:pt x="4274726" y="391529"/>
                    <a:pt x="4263834" y="402420"/>
                    <a:pt x="4250399" y="402420"/>
                  </a:cubicBezTo>
                  <a:lnTo>
                    <a:pt x="24327" y="402420"/>
                  </a:lnTo>
                  <a:cubicBezTo>
                    <a:pt x="17875" y="402420"/>
                    <a:pt x="11687" y="399857"/>
                    <a:pt x="7125" y="395295"/>
                  </a:cubicBezTo>
                  <a:cubicBezTo>
                    <a:pt x="2563" y="390733"/>
                    <a:pt x="0" y="384546"/>
                    <a:pt x="0" y="378094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57150"/>
              <a:ext cx="4274726" cy="3452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4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4974665"/>
            <a:ext cx="16230600" cy="1527940"/>
            <a:chOff x="0" y="0"/>
            <a:chExt cx="4274726" cy="4024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74726" cy="402420"/>
            </a:xfrm>
            <a:custGeom>
              <a:avLst/>
              <a:gdLst/>
              <a:ahLst/>
              <a:cxnLst/>
              <a:rect r="r" b="b" t="t" l="l"/>
              <a:pathLst>
                <a:path h="402420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378094"/>
                  </a:lnTo>
                  <a:cubicBezTo>
                    <a:pt x="4274726" y="391529"/>
                    <a:pt x="4263834" y="402420"/>
                    <a:pt x="4250399" y="402420"/>
                  </a:cubicBezTo>
                  <a:lnTo>
                    <a:pt x="24327" y="402420"/>
                  </a:lnTo>
                  <a:cubicBezTo>
                    <a:pt x="17875" y="402420"/>
                    <a:pt x="11687" y="399857"/>
                    <a:pt x="7125" y="395295"/>
                  </a:cubicBezTo>
                  <a:cubicBezTo>
                    <a:pt x="2563" y="390733"/>
                    <a:pt x="0" y="384546"/>
                    <a:pt x="0" y="378094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57150"/>
              <a:ext cx="4274726" cy="3452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4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8700" y="6844921"/>
            <a:ext cx="16230600" cy="1527940"/>
            <a:chOff x="0" y="0"/>
            <a:chExt cx="4274726" cy="4024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74726" cy="402420"/>
            </a:xfrm>
            <a:custGeom>
              <a:avLst/>
              <a:gdLst/>
              <a:ahLst/>
              <a:cxnLst/>
              <a:rect r="r" b="b" t="t" l="l"/>
              <a:pathLst>
                <a:path h="402420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378094"/>
                  </a:lnTo>
                  <a:cubicBezTo>
                    <a:pt x="4274726" y="391529"/>
                    <a:pt x="4263834" y="402420"/>
                    <a:pt x="4250399" y="402420"/>
                  </a:cubicBezTo>
                  <a:lnTo>
                    <a:pt x="24327" y="402420"/>
                  </a:lnTo>
                  <a:cubicBezTo>
                    <a:pt x="17875" y="402420"/>
                    <a:pt x="11687" y="399857"/>
                    <a:pt x="7125" y="395295"/>
                  </a:cubicBezTo>
                  <a:cubicBezTo>
                    <a:pt x="2563" y="390733"/>
                    <a:pt x="0" y="384546"/>
                    <a:pt x="0" y="378094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57150"/>
              <a:ext cx="4274726" cy="3452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4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48640" y="6446520"/>
            <a:ext cx="3291840" cy="3291840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tru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4928504" y="0"/>
                    <a:pt x="6350000" y="1421496"/>
                    <a:pt x="6350000" y="3175000"/>
                  </a:cubicBezTo>
                  <a:cubicBezTo>
                    <a:pt x="6350000" y="4928504"/>
                    <a:pt x="4928504" y="6350000"/>
                    <a:pt x="3175000" y="6350000"/>
                  </a:cubicBezTo>
                  <a:cubicBezTo>
                    <a:pt x="1421496" y="6350000"/>
                    <a:pt x="0" y="4928504"/>
                    <a:pt x="0" y="3175000"/>
                  </a:cubicBezTo>
                  <a:cubicBezTo>
                    <a:pt x="0" y="1421496"/>
                    <a:pt x="1421496" y="0"/>
                    <a:pt x="3175000" y="0"/>
                  </a:cubicBezTo>
                  <a:close/>
                </a:path>
              </a:pathLst>
            </a:custGeom>
            <a:blipFill>
              <a:blip r:embed="rId4"/>
              <a:stretch>
                <a:fillRect l="-38888" t="0" r="-38888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2593017" y="1399965"/>
            <a:ext cx="12385481" cy="745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992"/>
              </a:lnSpc>
            </a:pPr>
            <a:r>
              <a:rPr lang="en-US" b="true" sz="5805" spc="-42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Contribuições e Implicações Práticas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189213" y="3347679"/>
            <a:ext cx="13909573" cy="1040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31"/>
              </a:lnSpc>
            </a:pPr>
            <a:r>
              <a:rPr lang="en-US" sz="2458" spc="-17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Maximização da acurácia na resolução de questões PMP com LLMs</a:t>
            </a:r>
          </a:p>
          <a:p>
            <a:pPr algn="just" marL="0" indent="0" lvl="0">
              <a:lnSpc>
                <a:spcPts val="2631"/>
              </a:lnSpc>
            </a:pPr>
            <a:r>
              <a:rPr lang="en-US" sz="2458" spc="-17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Uso otimizado de estratégias de prompting (Zero-shot, Chain-of-Thought) para elevar o desempenho dos modelos em questões factuais e situacionais, com análise comparativa entre ChatGPT e Gemini.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189213" y="5217935"/>
            <a:ext cx="13909573" cy="1040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31"/>
              </a:lnSpc>
            </a:pPr>
            <a:r>
              <a:rPr lang="en-US" sz="2458" spc="-17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Suporte adaptativo com feedback explicativo e diagnóstico detalhado</a:t>
            </a:r>
          </a:p>
          <a:p>
            <a:pPr algn="just" marL="0" indent="0" lvl="0">
              <a:lnSpc>
                <a:spcPts val="2631"/>
              </a:lnSpc>
            </a:pPr>
            <a:r>
              <a:rPr lang="en-US" sz="2458" spc="-17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Geração de justificativas explicativas pelos LLMs para cada resposta, permitindo identificação de padrões de erro e fornecendo ao candidato um aprendizado direcionado e personalizado.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189213" y="7088191"/>
            <a:ext cx="13909573" cy="1040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31"/>
              </a:lnSpc>
            </a:pPr>
            <a:r>
              <a:rPr lang="en-US" sz="2458" spc="-17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Diretrizes práticas para uso eficaz de LLMs na preparação para certificação PMP</a:t>
            </a:r>
          </a:p>
          <a:p>
            <a:pPr algn="just" marL="0" indent="0" lvl="0">
              <a:lnSpc>
                <a:spcPts val="2631"/>
              </a:lnSpc>
            </a:pPr>
            <a:r>
              <a:rPr lang="en-US" sz="2458" spc="-17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Recomendações baseadas em evidências para candidatos e educadores, com potencial de aprimorar simulados e sistemas de treinamento adaptativo voltados ao exame PMP 2026.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546851" y="-10768866"/>
            <a:ext cx="12607420" cy="18075154"/>
          </a:xfrm>
          <a:custGeom>
            <a:avLst/>
            <a:gdLst/>
            <a:ahLst/>
            <a:cxnLst/>
            <a:rect r="r" b="b" t="t" l="l"/>
            <a:pathLst>
              <a:path h="18075154" w="12607420">
                <a:moveTo>
                  <a:pt x="0" y="0"/>
                </a:moveTo>
                <a:lnTo>
                  <a:pt x="12607421" y="0"/>
                </a:lnTo>
                <a:lnTo>
                  <a:pt x="12607421" y="18075154"/>
                </a:lnTo>
                <a:lnTo>
                  <a:pt x="0" y="180751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398181" y="6262625"/>
            <a:ext cx="13084230" cy="3516387"/>
          </a:xfrm>
          <a:custGeom>
            <a:avLst/>
            <a:gdLst/>
            <a:ahLst/>
            <a:cxnLst/>
            <a:rect r="r" b="b" t="t" l="l"/>
            <a:pathLst>
              <a:path h="3516387" w="13084230">
                <a:moveTo>
                  <a:pt x="0" y="0"/>
                </a:moveTo>
                <a:lnTo>
                  <a:pt x="13084230" y="0"/>
                </a:lnTo>
                <a:lnTo>
                  <a:pt x="13084230" y="3516387"/>
                </a:lnTo>
                <a:lnTo>
                  <a:pt x="0" y="35163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48640" y="6446520"/>
            <a:ext cx="3291840" cy="3291840"/>
            <a:chOff x="0" y="0"/>
            <a:chExt cx="6350000" cy="6350000"/>
          </a:xfrm>
        </p:grpSpPr>
        <p:sp>
          <p:nvSpPr>
            <p:cNvPr name="Freeform 5" id="5"/>
            <p:cNvSpPr/>
            <p:nvPr/>
          </p:nvSpPr>
          <p:spPr>
            <a:xfrm flipH="tru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4928504" y="0"/>
                    <a:pt x="6350000" y="1421496"/>
                    <a:pt x="6350000" y="3175000"/>
                  </a:cubicBezTo>
                  <a:cubicBezTo>
                    <a:pt x="6350000" y="4928504"/>
                    <a:pt x="4928504" y="6350000"/>
                    <a:pt x="3175000" y="6350000"/>
                  </a:cubicBezTo>
                  <a:cubicBezTo>
                    <a:pt x="1421496" y="6350000"/>
                    <a:pt x="0" y="4928504"/>
                    <a:pt x="0" y="3175000"/>
                  </a:cubicBezTo>
                  <a:cubicBezTo>
                    <a:pt x="0" y="1421496"/>
                    <a:pt x="1421496" y="0"/>
                    <a:pt x="3175000" y="0"/>
                  </a:cubicBezTo>
                  <a:close/>
                </a:path>
              </a:pathLst>
            </a:custGeom>
            <a:blipFill>
              <a:blip r:embed="rId4"/>
              <a:stretch>
                <a:fillRect l="-38888" t="0" r="-38888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182118" y="2317138"/>
            <a:ext cx="16408201" cy="2826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12"/>
              </a:lnSpc>
              <a:spcBef>
                <a:spcPct val="0"/>
              </a:spcBef>
            </a:pPr>
            <a:r>
              <a:rPr lang="en-US" b="true" sz="5014" spc="-366" strike="noStrike" u="none">
                <a:solidFill>
                  <a:srgbClr val="794BD4"/>
                </a:solidFill>
                <a:latin typeface="Poppins Bold"/>
                <a:ea typeface="Poppins Bold"/>
                <a:cs typeface="Poppins Bold"/>
                <a:sym typeface="Poppins Bold"/>
              </a:rPr>
              <a:t>Agradeço a atenção e estou à disposição para as consideraćões e temos  a satisfação de informar que o nosso paper  que submetemos ao SoftCom 2026 na Croácia foi aprovado com excelentes avaliações no evento.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850562" y="9817112"/>
            <a:ext cx="4131215" cy="25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718"/>
              </a:lnSpc>
            </a:pPr>
            <a:r>
              <a:rPr lang="en-US" sz="1998" spc="-145">
                <a:solidFill>
                  <a:srgbClr val="794BD4"/>
                </a:solidFill>
                <a:latin typeface="Poppins"/>
                <a:ea typeface="Poppins"/>
                <a:cs typeface="Poppins"/>
                <a:sym typeface="Poppins"/>
              </a:rPr>
              <a:t>Pedro Ivo Santos Leite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DAHOjP2zNB8</dc:identifier>
  <dcterms:modified xsi:type="dcterms:W3CDTF">2011-08-01T06:04:30Z</dcterms:modified>
  <cp:revision>1</cp:revision>
  <dc:title>Final Pitch Acurácia Metodologia 20261</dc:title>
</cp:coreProperties>
</file>